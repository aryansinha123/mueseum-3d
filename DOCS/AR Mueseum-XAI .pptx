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Barlow Bold" charset="1" panose="00000800000000000000"/>
      <p:regular r:id="rId33"/>
    </p:embeddedFont>
    <p:embeddedFont>
      <p:font typeface="Barlow" charset="1" panose="00000500000000000000"/>
      <p:regular r:id="rId34"/>
    </p:embeddedFont>
    <p:embeddedFont>
      <p:font typeface="Barlow Semi-Bold" charset="1" panose="0000070000000000000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embeddings/oleObject1.bin" Type="http://schemas.openxmlformats.org/officeDocument/2006/relationships/oleObjec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embeddings/oleObject2.bin" Type="http://schemas.openxmlformats.org/officeDocument/2006/relationships/oleObjec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embeddings/oleObject3.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embeddings/oleObject4.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embeddings/oleObject5.bin" Type="http://schemas.openxmlformats.org/officeDocument/2006/relationships/oleObjec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2.png" Type="http://schemas.openxmlformats.org/officeDocument/2006/relationships/image"/><Relationship Id="rId4" Target="../embeddings/oleObject6.bin" Type="http://schemas.openxmlformats.org/officeDocument/2006/relationships/oleObjec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1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22" r="0" b="-9222"/>
            </a:stretch>
          </a:blipFill>
        </p:spPr>
      </p:sp>
      <p:grpSp>
        <p:nvGrpSpPr>
          <p:cNvPr name="Group 3" id="3"/>
          <p:cNvGrpSpPr/>
          <p:nvPr/>
        </p:nvGrpSpPr>
        <p:grpSpPr>
          <a:xfrm rot="566727">
            <a:off x="10895260" y="-4368833"/>
            <a:ext cx="11215742" cy="1121574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289DD2">
                <a:alpha val="19608"/>
              </a:srgbClr>
            </a:solidFill>
            <a:ln w="19050" cap="rnd">
              <a:solidFill>
                <a:srgbClr val="FFFFFF">
                  <a:alpha val="19608"/>
                </a:srgbClr>
              </a:solidFill>
              <a:prstDash val="solid"/>
              <a:round/>
            </a:ln>
          </p:spPr>
        </p:sp>
        <p:sp>
          <p:nvSpPr>
            <p:cNvPr name="TextBox 5" id="5"/>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6" id="6"/>
          <p:cNvGrpSpPr/>
          <p:nvPr/>
        </p:nvGrpSpPr>
        <p:grpSpPr>
          <a:xfrm rot="566727">
            <a:off x="12737741" y="-2526351"/>
            <a:ext cx="7530780" cy="75307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289DD2">
                <a:alpha val="19608"/>
              </a:srgbClr>
            </a:solidFill>
            <a:ln w="19050" cap="rnd">
              <a:solidFill>
                <a:srgbClr val="FFFFFF">
                  <a:alpha val="19608"/>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914697" y="793573"/>
            <a:ext cx="16458607" cy="8699854"/>
            <a:chOff x="0" y="0"/>
            <a:chExt cx="8277467" cy="4375386"/>
          </a:xfrm>
        </p:grpSpPr>
        <p:sp>
          <p:nvSpPr>
            <p:cNvPr name="Freeform 10" id="10"/>
            <p:cNvSpPr/>
            <p:nvPr/>
          </p:nvSpPr>
          <p:spPr>
            <a:xfrm flipH="false" flipV="false" rot="0">
              <a:off x="0" y="0"/>
              <a:ext cx="8277467" cy="4375386"/>
            </a:xfrm>
            <a:custGeom>
              <a:avLst/>
              <a:gdLst/>
              <a:ahLst/>
              <a:cxnLst/>
              <a:rect r="r" b="b" t="t" l="l"/>
              <a:pathLst>
                <a:path h="4375386" w="8277467">
                  <a:moveTo>
                    <a:pt x="0" y="0"/>
                  </a:moveTo>
                  <a:lnTo>
                    <a:pt x="0" y="4375386"/>
                  </a:lnTo>
                  <a:lnTo>
                    <a:pt x="8277467" y="4375386"/>
                  </a:lnTo>
                  <a:lnTo>
                    <a:pt x="8277467" y="0"/>
                  </a:lnTo>
                  <a:lnTo>
                    <a:pt x="0" y="0"/>
                  </a:lnTo>
                  <a:close/>
                  <a:moveTo>
                    <a:pt x="8216507" y="4314426"/>
                  </a:moveTo>
                  <a:lnTo>
                    <a:pt x="59690" y="4314426"/>
                  </a:lnTo>
                  <a:lnTo>
                    <a:pt x="59690" y="59690"/>
                  </a:lnTo>
                  <a:lnTo>
                    <a:pt x="8216507" y="59690"/>
                  </a:lnTo>
                  <a:lnTo>
                    <a:pt x="8216507" y="4314426"/>
                  </a:lnTo>
                  <a:close/>
                </a:path>
              </a:pathLst>
            </a:custGeom>
            <a:solidFill>
              <a:srgbClr val="F7F7F7"/>
            </a:solidFill>
          </p:spPr>
        </p:sp>
      </p:grpSp>
      <p:sp>
        <p:nvSpPr>
          <p:cNvPr name="AutoShape 11" id="11"/>
          <p:cNvSpPr/>
          <p:nvPr/>
        </p:nvSpPr>
        <p:spPr>
          <a:xfrm rot="0">
            <a:off x="3859684" y="-391894"/>
            <a:ext cx="10411065" cy="11070787"/>
          </a:xfrm>
          <a:prstGeom prst="rect">
            <a:avLst/>
          </a:prstGeom>
          <a:solidFill>
            <a:srgbClr val="365B6D"/>
          </a:solidFill>
        </p:spPr>
      </p:sp>
      <p:grpSp>
        <p:nvGrpSpPr>
          <p:cNvPr name="Group 12" id="12"/>
          <p:cNvGrpSpPr/>
          <p:nvPr/>
        </p:nvGrpSpPr>
        <p:grpSpPr>
          <a:xfrm rot="0">
            <a:off x="5238576" y="1250356"/>
            <a:ext cx="7810847" cy="7786288"/>
            <a:chOff x="0" y="0"/>
            <a:chExt cx="10414463" cy="10381718"/>
          </a:xfrm>
        </p:grpSpPr>
        <p:sp>
          <p:nvSpPr>
            <p:cNvPr name="TextBox 13" id="13"/>
            <p:cNvSpPr txBox="true"/>
            <p:nvPr/>
          </p:nvSpPr>
          <p:spPr>
            <a:xfrm rot="0">
              <a:off x="0" y="66675"/>
              <a:ext cx="10414463" cy="6202312"/>
            </a:xfrm>
            <a:prstGeom prst="rect">
              <a:avLst/>
            </a:prstGeom>
          </p:spPr>
          <p:txBody>
            <a:bodyPr anchor="t" rtlCol="false" tIns="0" lIns="0" bIns="0" rIns="0">
              <a:spAutoFit/>
            </a:bodyPr>
            <a:lstStyle/>
            <a:p>
              <a:pPr algn="ctr" marL="0" indent="0" lvl="0">
                <a:lnSpc>
                  <a:spcPts val="5177"/>
                </a:lnSpc>
              </a:pPr>
              <a:r>
                <a:rPr lang="en-US" b="true" sz="4978">
                  <a:solidFill>
                    <a:srgbClr val="F7F7F7"/>
                  </a:solidFill>
                  <a:latin typeface="Barlow Bold"/>
                  <a:ea typeface="Barlow Bold"/>
                  <a:cs typeface="Barlow Bold"/>
                  <a:sym typeface="Barlow Bold"/>
                </a:rPr>
                <a:t>Context-Aware Explainable AI Curator for Virtual Museums using Retrieval-Augmented Generation</a:t>
              </a:r>
            </a:p>
            <a:p>
              <a:pPr algn="ctr" marL="0" indent="0" lvl="0">
                <a:lnSpc>
                  <a:spcPts val="5177"/>
                </a:lnSpc>
              </a:pPr>
            </a:p>
            <a:p>
              <a:pPr algn="ctr" marL="0" indent="0" lvl="0">
                <a:lnSpc>
                  <a:spcPts val="5177"/>
                </a:lnSpc>
              </a:pPr>
            </a:p>
            <a:p>
              <a:pPr algn="ctr" marL="0" indent="0" lvl="0">
                <a:lnSpc>
                  <a:spcPts val="5177"/>
                </a:lnSpc>
              </a:pPr>
            </a:p>
          </p:txBody>
        </p:sp>
        <p:sp>
          <p:nvSpPr>
            <p:cNvPr name="TextBox 14" id="14"/>
            <p:cNvSpPr txBox="true"/>
            <p:nvPr/>
          </p:nvSpPr>
          <p:spPr>
            <a:xfrm rot="0">
              <a:off x="0" y="6676914"/>
              <a:ext cx="10414463" cy="3704803"/>
            </a:xfrm>
            <a:prstGeom prst="rect">
              <a:avLst/>
            </a:prstGeom>
          </p:spPr>
          <p:txBody>
            <a:bodyPr anchor="t" rtlCol="false" tIns="0" lIns="0" bIns="0" rIns="0">
              <a:spAutoFit/>
            </a:bodyPr>
            <a:lstStyle/>
            <a:p>
              <a:pPr algn="ctr" marL="0" indent="0" lvl="0">
                <a:lnSpc>
                  <a:spcPts val="4479"/>
                </a:lnSpc>
              </a:pPr>
              <a:r>
                <a:rPr lang="en-US" sz="3199" spc="12">
                  <a:solidFill>
                    <a:srgbClr val="F7F7F7"/>
                  </a:solidFill>
                  <a:latin typeface="Barlow"/>
                  <a:ea typeface="Barlow"/>
                  <a:cs typeface="Barlow"/>
                  <a:sym typeface="Barlow"/>
                </a:rPr>
                <a:t>• Prof Deepanramkumar</a:t>
              </a:r>
            </a:p>
            <a:p>
              <a:pPr algn="ctr" marL="0" indent="0" lvl="0">
                <a:lnSpc>
                  <a:spcPts val="4479"/>
                </a:lnSpc>
              </a:pPr>
            </a:p>
            <a:p>
              <a:pPr algn="ctr" marL="0" indent="0" lvl="0">
                <a:lnSpc>
                  <a:spcPts val="4479"/>
                </a:lnSpc>
              </a:pPr>
              <a:r>
                <a:rPr lang="en-US" sz="3199" spc="12">
                  <a:solidFill>
                    <a:srgbClr val="F7F7F7"/>
                  </a:solidFill>
                  <a:latin typeface="Barlow"/>
                  <a:ea typeface="Barlow"/>
                  <a:cs typeface="Barlow"/>
                  <a:sym typeface="Barlow"/>
                </a:rPr>
                <a:t>• School :SCOPE</a:t>
              </a:r>
            </a:p>
            <a:p>
              <a:pPr algn="ctr" marL="0" indent="0" lvl="0">
                <a:lnSpc>
                  <a:spcPts val="4479"/>
                </a:lnSpc>
              </a:pPr>
            </a:p>
            <a:p>
              <a:pPr algn="ctr" marL="0" indent="0" lvl="0">
                <a:lnSpc>
                  <a:spcPts val="4479"/>
                </a:lnSpc>
              </a:pPr>
              <a:r>
                <a:rPr lang="en-US" sz="3199" spc="12">
                  <a:solidFill>
                    <a:srgbClr val="F7F7F7"/>
                  </a:solidFill>
                  <a:latin typeface="Barlow"/>
                  <a:ea typeface="Barlow"/>
                  <a:cs typeface="Barlow"/>
                  <a:sym typeface="Barlow"/>
                </a:rPr>
                <a:t>• Date of Review: 29 july,2026</a:t>
              </a:r>
            </a:p>
          </p:txBody>
        </p:sp>
      </p:grpSp>
      <p:sp>
        <p:nvSpPr>
          <p:cNvPr name="TextBox 15" id="15"/>
          <p:cNvSpPr txBox="true"/>
          <p:nvPr/>
        </p:nvSpPr>
        <p:spPr>
          <a:xfrm rot="0">
            <a:off x="14304062" y="8786618"/>
            <a:ext cx="3693468" cy="895740"/>
          </a:xfrm>
          <a:prstGeom prst="rect">
            <a:avLst/>
          </a:prstGeom>
        </p:spPr>
        <p:txBody>
          <a:bodyPr anchor="t" rtlCol="false" tIns="0" lIns="0" bIns="0" rIns="0">
            <a:spAutoFit/>
          </a:bodyPr>
          <a:lstStyle/>
          <a:p>
            <a:pPr algn="ctr">
              <a:lnSpc>
                <a:spcPts val="3653"/>
              </a:lnSpc>
              <a:spcBef>
                <a:spcPct val="0"/>
              </a:spcBef>
            </a:pPr>
            <a:r>
              <a:rPr lang="en-US" b="true" sz="2609">
                <a:solidFill>
                  <a:srgbClr val="365B6D"/>
                </a:solidFill>
                <a:latin typeface="Barlow Semi-Bold"/>
                <a:ea typeface="Barlow Semi-Bold"/>
                <a:cs typeface="Barlow Semi-Bold"/>
                <a:sym typeface="Barlow Semi-Bold"/>
              </a:rPr>
              <a:t> SHRIYA GARG 23MID0169 </a:t>
            </a:r>
          </a:p>
          <a:p>
            <a:pPr algn="ctr">
              <a:lnSpc>
                <a:spcPts val="3653"/>
              </a:lnSpc>
              <a:spcBef>
                <a:spcPct val="0"/>
              </a:spcBef>
            </a:pPr>
            <a:r>
              <a:rPr lang="en-US" b="true" sz="2609">
                <a:solidFill>
                  <a:srgbClr val="365B6D"/>
                </a:solidFill>
                <a:latin typeface="Barlow Semi-Bold"/>
                <a:ea typeface="Barlow Semi-Bold"/>
                <a:cs typeface="Barlow Semi-Bold"/>
                <a:sym typeface="Barlow Semi-Bold"/>
              </a:rPr>
              <a:t>ARYAN SINHA 23MID0088</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9278497">
            <a:off x="-2997112" y="-1545956"/>
            <a:ext cx="5213104" cy="521310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365B6D">
                <a:alpha val="19608"/>
              </a:srgbClr>
            </a:solidFill>
            <a:ln w="19050" cap="rnd">
              <a:solidFill>
                <a:srgbClr val="FFFFFF">
                  <a:alpha val="19608"/>
                </a:srgbClr>
              </a:solidFill>
              <a:prstDash val="solid"/>
              <a:round/>
            </a:ln>
          </p:spPr>
        </p:sp>
        <p:sp>
          <p:nvSpPr>
            <p:cNvPr name="TextBox 5" id="5"/>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6" id="6"/>
          <p:cNvSpPr txBox="true"/>
          <p:nvPr/>
        </p:nvSpPr>
        <p:spPr>
          <a:xfrm rot="0">
            <a:off x="523796" y="259529"/>
            <a:ext cx="5130470" cy="1055687"/>
          </a:xfrm>
          <a:prstGeom prst="rect">
            <a:avLst/>
          </a:prstGeom>
        </p:spPr>
        <p:txBody>
          <a:bodyPr anchor="t" rtlCol="false" tIns="0" lIns="0" bIns="0" rIns="0">
            <a:spAutoFit/>
          </a:bodyPr>
          <a:lstStyle/>
          <a:p>
            <a:pPr algn="r">
              <a:lnSpc>
                <a:spcPts val="8287"/>
              </a:lnSpc>
            </a:pPr>
            <a:r>
              <a:rPr lang="en-US" b="true" sz="7083">
                <a:solidFill>
                  <a:srgbClr val="365B6D"/>
                </a:solidFill>
                <a:latin typeface="Barlow Bold"/>
                <a:ea typeface="Barlow Bold"/>
                <a:cs typeface="Barlow Bold"/>
                <a:sym typeface="Barlow Bold"/>
              </a:rPr>
              <a:t>In</a:t>
            </a:r>
            <a:r>
              <a:rPr lang="en-US" b="true" sz="7083">
                <a:solidFill>
                  <a:srgbClr val="365B6D"/>
                </a:solidFill>
                <a:latin typeface="Barlow Bold"/>
                <a:ea typeface="Barlow Bold"/>
                <a:cs typeface="Barlow Bold"/>
                <a:sym typeface="Barlow Bold"/>
              </a:rPr>
              <a:t>troduction</a:t>
            </a:r>
          </a:p>
        </p:txBody>
      </p:sp>
      <p:sp>
        <p:nvSpPr>
          <p:cNvPr name="TextBox 7" id="7"/>
          <p:cNvSpPr txBox="true"/>
          <p:nvPr/>
        </p:nvSpPr>
        <p:spPr>
          <a:xfrm rot="0">
            <a:off x="261898" y="1961760"/>
            <a:ext cx="18026102" cy="6382140"/>
          </a:xfrm>
          <a:prstGeom prst="rect">
            <a:avLst/>
          </a:prstGeom>
        </p:spPr>
        <p:txBody>
          <a:bodyPr anchor="t" rtlCol="false" tIns="0" lIns="0" bIns="0" rIns="0">
            <a:spAutoFit/>
          </a:bodyPr>
          <a:lstStyle/>
          <a:p>
            <a:pPr algn="l" marL="563423" indent="-281711" lvl="1">
              <a:lnSpc>
                <a:spcPts val="3653"/>
              </a:lnSpc>
              <a:spcBef>
                <a:spcPct val="0"/>
              </a:spcBef>
              <a:buFont typeface="Arial"/>
              <a:buChar char="•"/>
            </a:pPr>
            <a:r>
              <a:rPr lang="en-US" b="true" sz="2609" spc="10">
                <a:solidFill>
                  <a:srgbClr val="000000"/>
                </a:solidFill>
                <a:latin typeface="Barlow Bold"/>
                <a:ea typeface="Barlow Bold"/>
                <a:cs typeface="Barlow Bold"/>
                <a:sym typeface="Barlow Bold"/>
              </a:rPr>
              <a:t>Virtual museums preserve and showcase cultural heritage using AR, VR, and AI.</a:t>
            </a:r>
          </a:p>
          <a:p>
            <a:pPr algn="l" marL="563423" indent="-281711" lvl="1">
              <a:lnSpc>
                <a:spcPts val="3653"/>
              </a:lnSpc>
              <a:spcBef>
                <a:spcPct val="0"/>
              </a:spcBef>
              <a:buFont typeface="Arial"/>
              <a:buChar char="•"/>
            </a:pPr>
            <a:r>
              <a:rPr lang="en-US" b="true" sz="2609" spc="10">
                <a:solidFill>
                  <a:srgbClr val="000000"/>
                </a:solidFill>
                <a:latin typeface="Barlow Bold"/>
                <a:ea typeface="Barlow Bold"/>
                <a:cs typeface="Barlow Bold"/>
                <a:sym typeface="Barlow Bold"/>
              </a:rPr>
              <a:t>AI-powered virtual guides enable natural language interaction with exhibits.</a:t>
            </a:r>
          </a:p>
          <a:p>
            <a:pPr algn="l" marL="563423" indent="-281711" lvl="1">
              <a:lnSpc>
                <a:spcPts val="3653"/>
              </a:lnSpc>
              <a:spcBef>
                <a:spcPct val="0"/>
              </a:spcBef>
              <a:buFont typeface="Arial"/>
              <a:buChar char="•"/>
            </a:pPr>
            <a:r>
              <a:rPr lang="en-US" b="true" sz="2609" spc="10">
                <a:solidFill>
                  <a:srgbClr val="000000"/>
                </a:solidFill>
                <a:latin typeface="Barlow Bold"/>
                <a:ea typeface="Barlow Bold"/>
                <a:cs typeface="Barlow Bold"/>
                <a:sym typeface="Barlow Bold"/>
              </a:rPr>
              <a:t>Retrieval-Augmented Generation (RAG) improves response accuracy by retrieving information from verified museum knowledge sources.</a:t>
            </a:r>
          </a:p>
          <a:p>
            <a:pPr algn="l" marL="563423" indent="-281711" lvl="1">
              <a:lnSpc>
                <a:spcPts val="3653"/>
              </a:lnSpc>
              <a:spcBef>
                <a:spcPct val="0"/>
              </a:spcBef>
              <a:buFont typeface="Arial"/>
              <a:buChar char="•"/>
            </a:pPr>
            <a:r>
              <a:rPr lang="en-US" b="true" sz="2609" spc="10">
                <a:solidFill>
                  <a:srgbClr val="000000"/>
                </a:solidFill>
                <a:latin typeface="Barlow Bold"/>
                <a:ea typeface="Barlow Bold"/>
                <a:cs typeface="Barlow Bold"/>
                <a:sym typeface="Barlow Bold"/>
              </a:rPr>
              <a:t>Existing AI systems often lack transparency, making it difficult for users to trust the generated responses.</a:t>
            </a:r>
          </a:p>
          <a:p>
            <a:pPr algn="l" marL="563423" indent="-281711" lvl="1">
              <a:lnSpc>
                <a:spcPts val="3653"/>
              </a:lnSpc>
              <a:spcBef>
                <a:spcPct val="0"/>
              </a:spcBef>
              <a:buFont typeface="Arial"/>
              <a:buChar char="•"/>
            </a:pPr>
            <a:r>
              <a:rPr lang="en-US" b="true" sz="2609" spc="10">
                <a:solidFill>
                  <a:srgbClr val="000000"/>
                </a:solidFill>
                <a:latin typeface="Barlow Bold"/>
                <a:ea typeface="Barlow Bold"/>
                <a:cs typeface="Barlow Bold"/>
                <a:sym typeface="Barlow Bold"/>
              </a:rPr>
              <a:t>Explainable AI (XAI) enhances trust by providing source attribution and reasoning behind AI-generated answers.</a:t>
            </a:r>
          </a:p>
          <a:p>
            <a:pPr algn="l" marL="563423" indent="-281711" lvl="1">
              <a:lnSpc>
                <a:spcPts val="3653"/>
              </a:lnSpc>
              <a:spcBef>
                <a:spcPct val="0"/>
              </a:spcBef>
              <a:buFont typeface="Arial"/>
              <a:buChar char="•"/>
            </a:pPr>
            <a:r>
              <a:rPr lang="en-US" b="true" sz="2609" spc="10">
                <a:solidFill>
                  <a:srgbClr val="000000"/>
                </a:solidFill>
                <a:latin typeface="Barlow Bold"/>
                <a:ea typeface="Barlow Bold"/>
                <a:cs typeface="Barlow Bold"/>
                <a:sym typeface="Barlow Bold"/>
              </a:rPr>
              <a:t>Proposed Solution: Develop a Context-Aware Explainable AI Curator that combines AR, RAG, and XAI to deliver personalized, accurate, and explainable museum experiences.</a:t>
            </a:r>
          </a:p>
          <a:p>
            <a:pPr algn="l" marL="563423" indent="-281711" lvl="1">
              <a:lnSpc>
                <a:spcPts val="3653"/>
              </a:lnSpc>
              <a:spcBef>
                <a:spcPct val="0"/>
              </a:spcBef>
              <a:buFont typeface="Arial"/>
              <a:buChar char="•"/>
            </a:pPr>
            <a:r>
              <a:rPr lang="en-US" b="true" sz="2609" spc="10">
                <a:solidFill>
                  <a:srgbClr val="000000"/>
                </a:solidFill>
                <a:latin typeface="Barlow Bold"/>
                <a:ea typeface="Barlow Bold"/>
                <a:cs typeface="Barlow Bold"/>
                <a:sym typeface="Barlow Bold"/>
              </a:rPr>
              <a:t>Each response includes:</a:t>
            </a:r>
          </a:p>
          <a:p>
            <a:pPr algn="l" marL="563423" indent="-281711" lvl="1">
              <a:lnSpc>
                <a:spcPts val="3653"/>
              </a:lnSpc>
              <a:spcBef>
                <a:spcPct val="0"/>
              </a:spcBef>
              <a:buFont typeface="Arial"/>
              <a:buChar char="•"/>
            </a:pPr>
            <a:r>
              <a:rPr lang="en-US" b="true" sz="2609" spc="10">
                <a:solidFill>
                  <a:srgbClr val="000000"/>
                </a:solidFill>
                <a:latin typeface="Barlow Bold"/>
                <a:ea typeface="Barlow Bold"/>
                <a:cs typeface="Barlow Bold"/>
                <a:sym typeface="Barlow Bold"/>
              </a:rPr>
              <a:t>📌 Source exhibit</a:t>
            </a:r>
          </a:p>
          <a:p>
            <a:pPr algn="l" marL="563423" indent="-281711" lvl="1">
              <a:lnSpc>
                <a:spcPts val="3653"/>
              </a:lnSpc>
              <a:spcBef>
                <a:spcPct val="0"/>
              </a:spcBef>
              <a:buFont typeface="Arial"/>
              <a:buChar char="•"/>
            </a:pPr>
            <a:r>
              <a:rPr lang="en-US" b="true" sz="2609" spc="10">
                <a:solidFill>
                  <a:srgbClr val="000000"/>
                </a:solidFill>
                <a:latin typeface="Barlow Bold"/>
                <a:ea typeface="Barlow Bold"/>
                <a:cs typeface="Barlow Bold"/>
                <a:sym typeface="Barlow Bold"/>
              </a:rPr>
              <a:t>📄 Reference document</a:t>
            </a:r>
          </a:p>
          <a:p>
            <a:pPr algn="l" marL="563423" indent="-281711" lvl="1">
              <a:lnSpc>
                <a:spcPts val="3653"/>
              </a:lnSpc>
              <a:spcBef>
                <a:spcPct val="0"/>
              </a:spcBef>
              <a:buFont typeface="Arial"/>
              <a:buChar char="•"/>
            </a:pPr>
            <a:r>
              <a:rPr lang="en-US" b="true" sz="2609" spc="10">
                <a:solidFill>
                  <a:srgbClr val="000000"/>
                </a:solidFill>
                <a:latin typeface="Barlow Bold"/>
                <a:ea typeface="Barlow Bold"/>
                <a:cs typeface="Barlow Bold"/>
                <a:sym typeface="Barlow Bold"/>
              </a:rPr>
              <a:t>📊 Confidence score</a:t>
            </a:r>
          </a:p>
          <a:p>
            <a:pPr algn="l" marL="563423" indent="-281711" lvl="1">
              <a:lnSpc>
                <a:spcPts val="3653"/>
              </a:lnSpc>
              <a:spcBef>
                <a:spcPct val="0"/>
              </a:spcBef>
              <a:buFont typeface="Arial"/>
              <a:buChar char="•"/>
            </a:pPr>
            <a:r>
              <a:rPr lang="en-US" b="true" sz="2609" spc="10">
                <a:solidFill>
                  <a:srgbClr val="000000"/>
                </a:solidFill>
                <a:latin typeface="Barlow Bold"/>
                <a:ea typeface="Barlow Bold"/>
                <a:cs typeface="Barlow Bold"/>
                <a:sym typeface="Barlow Bold"/>
              </a:rPr>
              <a:t>💡 Explainable reasoning</a:t>
            </a:r>
          </a:p>
          <a:p>
            <a:pPr algn="l">
              <a:lnSpc>
                <a:spcPts val="3653"/>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TextBox 3" id="3"/>
          <p:cNvSpPr txBox="true"/>
          <p:nvPr/>
        </p:nvSpPr>
        <p:spPr>
          <a:xfrm rot="0">
            <a:off x="343213" y="103943"/>
            <a:ext cx="17702072" cy="9340349"/>
          </a:xfrm>
          <a:prstGeom prst="rect">
            <a:avLst/>
          </a:prstGeom>
        </p:spPr>
        <p:txBody>
          <a:bodyPr anchor="t" rtlCol="false" tIns="0" lIns="0" bIns="0" rIns="0">
            <a:spAutoFit/>
          </a:bodyPr>
          <a:lstStyle/>
          <a:p>
            <a:pPr algn="l">
              <a:lnSpc>
                <a:spcPts val="4730"/>
              </a:lnSpc>
              <a:spcBef>
                <a:spcPct val="0"/>
              </a:spcBef>
            </a:pPr>
            <a:r>
              <a:rPr lang="en-US" b="true" sz="3378" spc="13">
                <a:solidFill>
                  <a:srgbClr val="365B6D"/>
                </a:solidFill>
                <a:latin typeface="Barlow Bold"/>
                <a:ea typeface="Barlow Bold"/>
                <a:cs typeface="Barlow Bold"/>
                <a:sym typeface="Barlow Bold"/>
              </a:rPr>
              <a:t>IMPORTANCE OF THE RESEARCH TOPIC</a:t>
            </a:r>
          </a:p>
          <a:p>
            <a:pPr algn="l">
              <a:lnSpc>
                <a:spcPts val="4074"/>
              </a:lnSpc>
              <a:spcBef>
                <a:spcPct val="0"/>
              </a:spcBef>
            </a:pPr>
          </a:p>
          <a:p>
            <a:pPr algn="l">
              <a:lnSpc>
                <a:spcPts val="4074"/>
              </a:lnSpc>
              <a:spcBef>
                <a:spcPct val="0"/>
              </a:spcBef>
            </a:pPr>
            <a:r>
              <a:rPr lang="en-US" b="true" sz="2910" spc="11">
                <a:solidFill>
                  <a:srgbClr val="000000"/>
                </a:solidFill>
                <a:latin typeface="Barlow Bold"/>
                <a:ea typeface="Barlow Bold"/>
                <a:cs typeface="Barlow Bold"/>
                <a:sym typeface="Barlow Bold"/>
              </a:rPr>
              <a:t>Digital museums are becoming increasingly popular due to their accessibility, educational value, and ability to reach global audiences. Visitors expect AI-powered museum guides to provide accurate, context-aware, and trustworthy information about artifacts and historical events.</a:t>
            </a:r>
          </a:p>
          <a:p>
            <a:pPr algn="l">
              <a:lnSpc>
                <a:spcPts val="4074"/>
              </a:lnSpc>
              <a:spcBef>
                <a:spcPct val="0"/>
              </a:spcBef>
            </a:pPr>
          </a:p>
          <a:p>
            <a:pPr algn="l">
              <a:lnSpc>
                <a:spcPts val="4074"/>
              </a:lnSpc>
              <a:spcBef>
                <a:spcPct val="0"/>
              </a:spcBef>
            </a:pPr>
            <a:r>
              <a:rPr lang="en-US" b="true" sz="2910" spc="11">
                <a:solidFill>
                  <a:srgbClr val="000000"/>
                </a:solidFill>
                <a:latin typeface="Barlow Bold"/>
                <a:ea typeface="Barlow Bold"/>
                <a:cs typeface="Barlow Bold"/>
                <a:sym typeface="Barlow Bold"/>
              </a:rPr>
              <a:t>Integrating RAG with Explainable AI offers several benefits:</a:t>
            </a:r>
          </a:p>
          <a:p>
            <a:pPr algn="l">
              <a:lnSpc>
                <a:spcPts val="4074"/>
              </a:lnSpc>
              <a:spcBef>
                <a:spcPct val="0"/>
              </a:spcBef>
            </a:pPr>
          </a:p>
          <a:p>
            <a:pPr algn="l" marL="628423" indent="-314211" lvl="1">
              <a:lnSpc>
                <a:spcPts val="4074"/>
              </a:lnSpc>
              <a:buFont typeface="Arial"/>
              <a:buChar char="•"/>
            </a:pPr>
            <a:r>
              <a:rPr lang="en-US" b="true" sz="2910" spc="11">
                <a:solidFill>
                  <a:srgbClr val="000000"/>
                </a:solidFill>
                <a:latin typeface="Barlow Bold"/>
                <a:ea typeface="Barlow Bold"/>
                <a:cs typeface="Barlow Bold"/>
                <a:sym typeface="Barlow Bold"/>
              </a:rPr>
              <a:t>Increases user trust by showing the evidence behind every response. </a:t>
            </a:r>
          </a:p>
          <a:p>
            <a:pPr algn="l" marL="628423" indent="-314211" lvl="1">
              <a:lnSpc>
                <a:spcPts val="4074"/>
              </a:lnSpc>
              <a:buFont typeface="Arial"/>
              <a:buChar char="•"/>
            </a:pPr>
            <a:r>
              <a:rPr lang="en-US" b="true" sz="2910" spc="11">
                <a:solidFill>
                  <a:srgbClr val="000000"/>
                </a:solidFill>
                <a:latin typeface="Barlow Bold"/>
                <a:ea typeface="Barlow Bold"/>
                <a:cs typeface="Barlow Bold"/>
                <a:sym typeface="Barlow Bold"/>
              </a:rPr>
              <a:t>Reduces misinformation and AI hallucinations by grounding answers in verified museum documents. </a:t>
            </a:r>
          </a:p>
          <a:p>
            <a:pPr algn="l" marL="628423" indent="-314211" lvl="1">
              <a:lnSpc>
                <a:spcPts val="4074"/>
              </a:lnSpc>
              <a:buFont typeface="Arial"/>
              <a:buChar char="•"/>
            </a:pPr>
            <a:r>
              <a:rPr lang="en-US" b="true" sz="2910" spc="11">
                <a:solidFill>
                  <a:srgbClr val="000000"/>
                </a:solidFill>
                <a:latin typeface="Barlow Bold"/>
                <a:ea typeface="Barlow Bold"/>
                <a:cs typeface="Barlow Bold"/>
                <a:sym typeface="Barlow Bold"/>
              </a:rPr>
              <a:t>Enhances learning by allowing visitors to trace information back to the original exhibit. </a:t>
            </a:r>
          </a:p>
          <a:p>
            <a:pPr algn="l" marL="628423" indent="-314211" lvl="1">
              <a:lnSpc>
                <a:spcPts val="4074"/>
              </a:lnSpc>
              <a:buFont typeface="Arial"/>
              <a:buChar char="•"/>
            </a:pPr>
            <a:r>
              <a:rPr lang="en-US" b="true" sz="2910" spc="11">
                <a:solidFill>
                  <a:srgbClr val="000000"/>
                </a:solidFill>
                <a:latin typeface="Barlow Bold"/>
                <a:ea typeface="Barlow Bold"/>
                <a:cs typeface="Barlow Bold"/>
                <a:sym typeface="Barlow Bold"/>
              </a:rPr>
              <a:t>Supports museum curators by providing transparent AI assistance rather than opaque automated responses. </a:t>
            </a:r>
          </a:p>
          <a:p>
            <a:pPr algn="l" marL="628423" indent="-314211" lvl="1">
              <a:lnSpc>
                <a:spcPts val="4074"/>
              </a:lnSpc>
              <a:buFont typeface="Arial"/>
              <a:buChar char="•"/>
            </a:pPr>
            <a:r>
              <a:rPr lang="en-US" b="true" sz="2910" spc="11">
                <a:solidFill>
                  <a:srgbClr val="000000"/>
                </a:solidFill>
                <a:latin typeface="Barlow Bold"/>
                <a:ea typeface="Barlow Bold"/>
                <a:cs typeface="Barlow Bold"/>
                <a:sym typeface="Barlow Bold"/>
              </a:rPr>
              <a:t>Improves visitor engagement through personalized, context-aware interactions while maintaining credibility. </a:t>
            </a:r>
          </a:p>
          <a:p>
            <a:pPr algn="l">
              <a:lnSpc>
                <a:spcPts val="4074"/>
              </a:lnSpc>
            </a:pPr>
          </a:p>
          <a:p>
            <a:pPr algn="l">
              <a:lnSpc>
                <a:spcPts val="4074"/>
              </a:lnSpc>
              <a:spcBef>
                <a:spcPct val="0"/>
              </a:spcBef>
            </a:pPr>
            <a:r>
              <a:rPr lang="en-US" b="true" sz="2910" spc="11">
                <a:solidFill>
                  <a:srgbClr val="000000"/>
                </a:solidFill>
                <a:latin typeface="Barlow Bold"/>
                <a:ea typeface="Barlow Bold"/>
                <a:cs typeface="Barlow Bold"/>
                <a:sym typeface="Barlow Bold"/>
              </a:rPr>
              <a:t>This research contributes toward building AI systems that are not only intelligent but also transparent, accountable, and suitable for cultural heritage applications.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grpSp>
        <p:nvGrpSpPr>
          <p:cNvPr name="Group 3" id="3"/>
          <p:cNvGrpSpPr/>
          <p:nvPr/>
        </p:nvGrpSpPr>
        <p:grpSpPr>
          <a:xfrm rot="-9278497">
            <a:off x="13587780" y="5089383"/>
            <a:ext cx="9966661" cy="99666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5" id="5"/>
            <p:cNvSpPr txBox="true"/>
            <p:nvPr/>
          </p:nvSpPr>
          <p:spPr>
            <a:xfrm>
              <a:off x="76200" y="809625"/>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15438586" y="6668025"/>
            <a:ext cx="6254675" cy="625467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15605106" y="1645646"/>
            <a:ext cx="228733" cy="22873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11" id="11"/>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grpSp>
        <p:nvGrpSpPr>
          <p:cNvPr name="Group 12" id="12"/>
          <p:cNvGrpSpPr/>
          <p:nvPr/>
        </p:nvGrpSpPr>
        <p:grpSpPr>
          <a:xfrm rot="0">
            <a:off x="15905555" y="1645646"/>
            <a:ext cx="228733" cy="22873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14" id="14"/>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grpSp>
        <p:nvGrpSpPr>
          <p:cNvPr name="Group 15" id="15"/>
          <p:cNvGrpSpPr/>
          <p:nvPr/>
        </p:nvGrpSpPr>
        <p:grpSpPr>
          <a:xfrm rot="-9278497">
            <a:off x="-5803234" y="-4205483"/>
            <a:ext cx="9966661" cy="996666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17" id="17"/>
            <p:cNvSpPr txBox="true"/>
            <p:nvPr/>
          </p:nvSpPr>
          <p:spPr>
            <a:xfrm>
              <a:off x="76200" y="809625"/>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18" id="18"/>
          <p:cNvGrpSpPr/>
          <p:nvPr/>
        </p:nvGrpSpPr>
        <p:grpSpPr>
          <a:xfrm rot="-9278497">
            <a:off x="-2997112" y="-1545956"/>
            <a:ext cx="5213104" cy="521310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20" id="20"/>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21" id="21"/>
          <p:cNvGrpSpPr/>
          <p:nvPr/>
        </p:nvGrpSpPr>
        <p:grpSpPr>
          <a:xfrm rot="0">
            <a:off x="16206003" y="1645646"/>
            <a:ext cx="228733" cy="22873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23" id="23"/>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sp>
        <p:nvSpPr>
          <p:cNvPr name="TextBox 24" id="24"/>
          <p:cNvSpPr txBox="true"/>
          <p:nvPr/>
        </p:nvSpPr>
        <p:spPr>
          <a:xfrm rot="0">
            <a:off x="0" y="484438"/>
            <a:ext cx="18288000" cy="9349296"/>
          </a:xfrm>
          <a:prstGeom prst="rect">
            <a:avLst/>
          </a:prstGeom>
        </p:spPr>
        <p:txBody>
          <a:bodyPr anchor="t" rtlCol="false" tIns="0" lIns="0" bIns="0" rIns="0">
            <a:spAutoFit/>
          </a:bodyPr>
          <a:lstStyle/>
          <a:p>
            <a:pPr algn="l">
              <a:lnSpc>
                <a:spcPts val="6101"/>
              </a:lnSpc>
              <a:spcBef>
                <a:spcPct val="0"/>
              </a:spcBef>
            </a:pPr>
            <a:r>
              <a:rPr lang="en-US" b="true" sz="4358" spc="17">
                <a:solidFill>
                  <a:srgbClr val="F1D4E4"/>
                </a:solidFill>
                <a:latin typeface="Barlow Bold"/>
                <a:ea typeface="Barlow Bold"/>
                <a:cs typeface="Barlow Bold"/>
                <a:sym typeface="Barlow Bold"/>
              </a:rPr>
              <a:t> </a:t>
            </a:r>
            <a:r>
              <a:rPr lang="en-US" b="true" sz="4358" spc="17">
                <a:solidFill>
                  <a:srgbClr val="F1D4E4"/>
                </a:solidFill>
                <a:latin typeface="Barlow Bold"/>
                <a:ea typeface="Barlow Bold"/>
                <a:cs typeface="Barlow Bold"/>
                <a:sym typeface="Barlow Bold"/>
              </a:rPr>
              <a:t>CURRENT CHALLENGES IN THE SELECTED DOMAIN</a:t>
            </a:r>
          </a:p>
          <a:p>
            <a:pPr algn="l">
              <a:lnSpc>
                <a:spcPts val="3817"/>
              </a:lnSpc>
              <a:spcBef>
                <a:spcPct val="0"/>
              </a:spcBef>
            </a:pPr>
          </a:p>
          <a:p>
            <a:pPr algn="l" marL="588717" indent="-294359" lvl="1">
              <a:lnSpc>
                <a:spcPts val="3817"/>
              </a:lnSpc>
              <a:buFont typeface="Arial"/>
              <a:buChar char="•"/>
            </a:pPr>
            <a:r>
              <a:rPr lang="en-US" b="true" sz="2726" spc="10">
                <a:solidFill>
                  <a:srgbClr val="FFFFFF"/>
                </a:solidFill>
                <a:latin typeface="Barlow Bold"/>
                <a:ea typeface="Barlow Bold"/>
                <a:cs typeface="Barlow Bold"/>
                <a:sym typeface="Barlow Bold"/>
              </a:rPr>
              <a:t>Lack of Explainability: Most conversational AI systems provide answers without indicating their source or reasoning process, making it difficult for users to verify information. </a:t>
            </a:r>
          </a:p>
          <a:p>
            <a:pPr algn="l">
              <a:lnSpc>
                <a:spcPts val="3817"/>
              </a:lnSpc>
            </a:pPr>
          </a:p>
          <a:p>
            <a:pPr algn="l" marL="588717" indent="-294359" lvl="1">
              <a:lnSpc>
                <a:spcPts val="3817"/>
              </a:lnSpc>
              <a:buFont typeface="Arial"/>
              <a:buChar char="•"/>
            </a:pPr>
            <a:r>
              <a:rPr lang="en-US" b="true" sz="2726" spc="10">
                <a:solidFill>
                  <a:srgbClr val="FFFFFF"/>
                </a:solidFill>
                <a:latin typeface="Barlow Bold"/>
                <a:ea typeface="Barlow Bold"/>
                <a:cs typeface="Barlow Bold"/>
                <a:sym typeface="Barlow Bold"/>
              </a:rPr>
              <a:t>Hallucinated Responses: Large Language Models may generate plausible but incorrect historical facts when reliable evidence is unavailable. </a:t>
            </a:r>
          </a:p>
          <a:p>
            <a:pPr algn="l">
              <a:lnSpc>
                <a:spcPts val="3817"/>
              </a:lnSpc>
            </a:pPr>
          </a:p>
          <a:p>
            <a:pPr algn="l" marL="588717" indent="-294359" lvl="1">
              <a:lnSpc>
                <a:spcPts val="3817"/>
              </a:lnSpc>
              <a:buFont typeface="Arial"/>
              <a:buChar char="•"/>
            </a:pPr>
            <a:r>
              <a:rPr lang="en-US" b="true" sz="2726" spc="10">
                <a:solidFill>
                  <a:srgbClr val="FFFFFF"/>
                </a:solidFill>
                <a:latin typeface="Barlow Bold"/>
                <a:ea typeface="Barlow Bold"/>
                <a:cs typeface="Barlow Bold"/>
                <a:sym typeface="Barlow Bold"/>
              </a:rPr>
              <a:t>Limited Context Awareness: Existing systems often fail to consider the visitor's current exhibit, interests, or conversation history, resulting in generic responses. </a:t>
            </a:r>
          </a:p>
          <a:p>
            <a:pPr algn="l">
              <a:lnSpc>
                <a:spcPts val="3817"/>
              </a:lnSpc>
            </a:pPr>
          </a:p>
          <a:p>
            <a:pPr algn="l" marL="588717" indent="-294359" lvl="1">
              <a:lnSpc>
                <a:spcPts val="3817"/>
              </a:lnSpc>
              <a:buFont typeface="Arial"/>
              <a:buChar char="•"/>
            </a:pPr>
            <a:r>
              <a:rPr lang="en-US" b="true" sz="2726" spc="10">
                <a:solidFill>
                  <a:srgbClr val="FFFFFF"/>
                </a:solidFill>
                <a:latin typeface="Barlow Bold"/>
                <a:ea typeface="Barlow Bold"/>
                <a:cs typeface="Barlow Bold"/>
                <a:sym typeface="Barlow Bold"/>
              </a:rPr>
              <a:t>Insufficient Source Attribution: Many museum chatbots do not reference the exhibit or document from which information was retrieved, reducing transparency. </a:t>
            </a:r>
          </a:p>
          <a:p>
            <a:pPr algn="l">
              <a:lnSpc>
                <a:spcPts val="3817"/>
              </a:lnSpc>
            </a:pPr>
          </a:p>
          <a:p>
            <a:pPr algn="l" marL="588717" indent="-294359" lvl="1">
              <a:lnSpc>
                <a:spcPts val="3817"/>
              </a:lnSpc>
              <a:buFont typeface="Arial"/>
              <a:buChar char="•"/>
            </a:pPr>
            <a:r>
              <a:rPr lang="en-US" b="true" sz="2726" spc="10">
                <a:solidFill>
                  <a:srgbClr val="FFFFFF"/>
                </a:solidFill>
                <a:latin typeface="Barlow Bold"/>
                <a:ea typeface="Barlow Bold"/>
                <a:cs typeface="Barlow Bold"/>
                <a:sym typeface="Barlow Bold"/>
              </a:rPr>
              <a:t>Low User Trust: Without confidence scores or explanations, users may hesitate to rely on AI-generated historical information. </a:t>
            </a:r>
          </a:p>
          <a:p>
            <a:pPr algn="l">
              <a:lnSpc>
                <a:spcPts val="3817"/>
              </a:lnSpc>
            </a:pPr>
          </a:p>
          <a:p>
            <a:pPr algn="l" marL="588717" indent="-294359" lvl="1">
              <a:lnSpc>
                <a:spcPts val="3817"/>
              </a:lnSpc>
              <a:buFont typeface="Arial"/>
              <a:buChar char="•"/>
            </a:pPr>
            <a:r>
              <a:rPr lang="en-US" b="true" sz="2726" spc="10">
                <a:solidFill>
                  <a:srgbClr val="FFFFFF"/>
                </a:solidFill>
                <a:latin typeface="Barlow Bold"/>
                <a:ea typeface="Barlow Bold"/>
                <a:cs typeface="Barlow Bold"/>
                <a:sym typeface="Barlow Bold"/>
              </a:rPr>
              <a:t>Fragmented Integration: While RAG and XAI have been individually explored, their combined implementation within immersive virtual museum environments remains limited.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1D4E4"/>
        </a:solidFill>
      </p:bgPr>
    </p:bg>
    <p:spTree>
      <p:nvGrpSpPr>
        <p:cNvPr id="1" name=""/>
        <p:cNvGrpSpPr/>
        <p:nvPr/>
      </p:nvGrpSpPr>
      <p:grpSpPr>
        <a:xfrm>
          <a:off x="0" y="0"/>
          <a:ext cx="0" cy="0"/>
          <a:chOff x="0" y="0"/>
          <a:chExt cx="0" cy="0"/>
        </a:xfrm>
      </p:grpSpPr>
      <p:graphicFrame>
        <p:nvGraphicFramePr>
          <p:cNvPr name="Object 2" id="2"/>
          <p:cNvGraphicFramePr/>
          <p:nvPr/>
        </p:nvGraphicFramePr>
        <p:xfrm>
          <a:off x="0" y="0"/>
          <a:ext cx="13201650" cy="5029200"/>
        </p:xfrm>
        <a:graphic>
          <a:graphicData uri="http://schemas.openxmlformats.org/presentationml/2006/ole">
            <p:oleObj imgW="15836900" imgH="76581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65B6D"/>
        </a:solidFill>
      </p:bgPr>
    </p:bg>
    <p:spTree>
      <p:nvGrpSpPr>
        <p:cNvPr id="1" name=""/>
        <p:cNvGrpSpPr/>
        <p:nvPr/>
      </p:nvGrpSpPr>
      <p:grpSpPr>
        <a:xfrm>
          <a:off x="0" y="0"/>
          <a:ext cx="0" cy="0"/>
          <a:chOff x="0" y="0"/>
          <a:chExt cx="0" cy="0"/>
        </a:xfrm>
      </p:grpSpPr>
      <p:graphicFrame>
        <p:nvGraphicFramePr>
          <p:cNvPr name="Object 2" id="2"/>
          <p:cNvGraphicFramePr/>
          <p:nvPr/>
        </p:nvGraphicFramePr>
        <p:xfrm>
          <a:off x="0" y="0"/>
          <a:ext cx="13201650" cy="5029200"/>
        </p:xfrm>
        <a:graphic>
          <a:graphicData uri="http://schemas.openxmlformats.org/presentationml/2006/ole">
            <p:oleObj imgW="15836900" imgH="76581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65B6D"/>
        </a:solidFill>
      </p:bgPr>
    </p:bg>
    <p:spTree>
      <p:nvGrpSpPr>
        <p:cNvPr id="1" name=""/>
        <p:cNvGrpSpPr/>
        <p:nvPr/>
      </p:nvGrpSpPr>
      <p:grpSpPr>
        <a:xfrm>
          <a:off x="0" y="0"/>
          <a:ext cx="0" cy="0"/>
          <a:chOff x="0" y="0"/>
          <a:chExt cx="0" cy="0"/>
        </a:xfrm>
      </p:grpSpPr>
      <p:sp>
        <p:nvSpPr>
          <p:cNvPr name="Freeform 2" id="2"/>
          <p:cNvSpPr/>
          <p:nvPr/>
        </p:nvSpPr>
        <p:spPr>
          <a:xfrm flipH="false" flipV="false" rot="0">
            <a:off x="3551702" y="1559058"/>
            <a:ext cx="11596076" cy="8266122"/>
          </a:xfrm>
          <a:custGeom>
            <a:avLst/>
            <a:gdLst/>
            <a:ahLst/>
            <a:cxnLst/>
            <a:rect r="r" b="b" t="t" l="l"/>
            <a:pathLst>
              <a:path h="8266122" w="11596076">
                <a:moveTo>
                  <a:pt x="0" y="0"/>
                </a:moveTo>
                <a:lnTo>
                  <a:pt x="11596077" y="0"/>
                </a:lnTo>
                <a:lnTo>
                  <a:pt x="11596077" y="8266122"/>
                </a:lnTo>
                <a:lnTo>
                  <a:pt x="0" y="8266122"/>
                </a:lnTo>
                <a:lnTo>
                  <a:pt x="0" y="0"/>
                </a:lnTo>
                <a:close/>
              </a:path>
            </a:pathLst>
          </a:custGeom>
          <a:blipFill>
            <a:blip r:embed="rId2"/>
            <a:stretch>
              <a:fillRect l="0" t="0" r="0" b="0"/>
            </a:stretch>
          </a:blipFill>
        </p:spPr>
      </p:sp>
      <p:sp>
        <p:nvSpPr>
          <p:cNvPr name="TextBox 3" id="3"/>
          <p:cNvSpPr txBox="true"/>
          <p:nvPr/>
        </p:nvSpPr>
        <p:spPr>
          <a:xfrm rot="0">
            <a:off x="2195982" y="828675"/>
            <a:ext cx="14307517" cy="1717676"/>
          </a:xfrm>
          <a:prstGeom prst="rect">
            <a:avLst/>
          </a:prstGeom>
        </p:spPr>
        <p:txBody>
          <a:bodyPr anchor="t" rtlCol="false" tIns="0" lIns="0" bIns="0" rIns="0">
            <a:spAutoFit/>
          </a:bodyPr>
          <a:lstStyle/>
          <a:p>
            <a:pPr algn="l">
              <a:lnSpc>
                <a:spcPts val="13999"/>
              </a:lnSpc>
              <a:spcBef>
                <a:spcPct val="0"/>
              </a:spcBef>
            </a:pPr>
            <a:r>
              <a:rPr lang="en-US" b="true" sz="9999" spc="39">
                <a:solidFill>
                  <a:srgbClr val="FFFFFF"/>
                </a:solidFill>
                <a:latin typeface="Barlow Bold"/>
                <a:ea typeface="Barlow Bold"/>
                <a:cs typeface="Barlow Bold"/>
                <a:sym typeface="Barlow Bold"/>
              </a:rPr>
              <a:t>COMPARATIVE ANALYSIS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65B6D"/>
        </a:solidFill>
      </p:bgPr>
    </p:bg>
    <p:spTree>
      <p:nvGrpSpPr>
        <p:cNvPr id="1" name=""/>
        <p:cNvGrpSpPr/>
        <p:nvPr/>
      </p:nvGrpSpPr>
      <p:grpSpPr>
        <a:xfrm>
          <a:off x="0" y="0"/>
          <a:ext cx="0" cy="0"/>
          <a:chOff x="0" y="0"/>
          <a:chExt cx="0" cy="0"/>
        </a:xfrm>
      </p:grpSpPr>
      <p:graphicFrame>
        <p:nvGraphicFramePr>
          <p:cNvPr name="Object 2" id="2"/>
          <p:cNvGraphicFramePr/>
          <p:nvPr/>
        </p:nvGraphicFramePr>
        <p:xfrm>
          <a:off x="0" y="0"/>
          <a:ext cx="16230600" cy="3606800"/>
        </p:xfrm>
        <a:graphic>
          <a:graphicData uri="http://schemas.openxmlformats.org/presentationml/2006/ole">
            <p:oleObj imgW="19469100" imgH="68453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365B6D"/>
        </a:solidFill>
      </p:bgPr>
    </p:bg>
    <p:spTree>
      <p:nvGrpSpPr>
        <p:cNvPr id="1" name=""/>
        <p:cNvGrpSpPr/>
        <p:nvPr/>
      </p:nvGrpSpPr>
      <p:grpSpPr>
        <a:xfrm>
          <a:off x="0" y="0"/>
          <a:ext cx="0" cy="0"/>
          <a:chOff x="0" y="0"/>
          <a:chExt cx="0" cy="0"/>
        </a:xfrm>
      </p:grpSpPr>
      <p:graphicFrame>
        <p:nvGraphicFramePr>
          <p:cNvPr name="Object 2" id="2"/>
          <p:cNvGraphicFramePr/>
          <p:nvPr/>
        </p:nvGraphicFramePr>
        <p:xfrm>
          <a:off x="0" y="0"/>
          <a:ext cx="16230600" cy="3606800"/>
        </p:xfrm>
        <a:graphic>
          <a:graphicData uri="http://schemas.openxmlformats.org/presentationml/2006/ole">
            <p:oleObj imgW="19469100" imgH="68453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365B6D"/>
        </a:solidFill>
      </p:bgPr>
    </p:bg>
    <p:spTree>
      <p:nvGrpSpPr>
        <p:cNvPr id="1" name=""/>
        <p:cNvGrpSpPr/>
        <p:nvPr/>
      </p:nvGrpSpPr>
      <p:grpSpPr>
        <a:xfrm>
          <a:off x="0" y="0"/>
          <a:ext cx="0" cy="0"/>
          <a:chOff x="0" y="0"/>
          <a:chExt cx="0" cy="0"/>
        </a:xfrm>
      </p:grpSpPr>
      <p:graphicFrame>
        <p:nvGraphicFramePr>
          <p:cNvPr name="Object 2" id="2"/>
          <p:cNvGraphicFramePr/>
          <p:nvPr/>
        </p:nvGraphicFramePr>
        <p:xfrm>
          <a:off x="-109197" y="0"/>
          <a:ext cx="16230600" cy="3005667"/>
        </p:xfrm>
        <a:graphic>
          <a:graphicData uri="http://schemas.openxmlformats.org/presentationml/2006/ole">
            <p:oleObj imgW="19469100" imgH="62484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12.xml><?xml version="1.0" encoding="utf-8"?>
<p:sld xmlns:p="http://schemas.openxmlformats.org/presentationml/2006/main" xmlns:a="http://schemas.openxmlformats.org/drawingml/2006/main">
  <p:cSld>
    <p:bg>
      <p:bgPr>
        <a:solidFill>
          <a:srgbClr val="365B6D"/>
        </a:solidFill>
      </p:bgPr>
    </p:bg>
    <p:spTree>
      <p:nvGrpSpPr>
        <p:cNvPr id="1" name=""/>
        <p:cNvGrpSpPr/>
        <p:nvPr/>
      </p:nvGrpSpPr>
      <p:grpSpPr>
        <a:xfrm>
          <a:off x="0" y="0"/>
          <a:ext cx="0" cy="0"/>
          <a:chOff x="0" y="0"/>
          <a:chExt cx="0" cy="0"/>
        </a:xfrm>
      </p:grpSpPr>
      <p:sp>
        <p:nvSpPr>
          <p:cNvPr name="TextBox 2" id="2"/>
          <p:cNvSpPr txBox="true"/>
          <p:nvPr/>
        </p:nvSpPr>
        <p:spPr>
          <a:xfrm rot="0">
            <a:off x="121717" y="70028"/>
            <a:ext cx="6242122" cy="1288694"/>
          </a:xfrm>
          <a:prstGeom prst="rect">
            <a:avLst/>
          </a:prstGeom>
        </p:spPr>
        <p:txBody>
          <a:bodyPr anchor="t" rtlCol="false" tIns="0" lIns="0" bIns="0" rIns="0">
            <a:spAutoFit/>
          </a:bodyPr>
          <a:lstStyle/>
          <a:p>
            <a:pPr algn="l">
              <a:lnSpc>
                <a:spcPts val="6879"/>
              </a:lnSpc>
              <a:spcBef>
                <a:spcPct val="0"/>
              </a:spcBef>
            </a:pPr>
            <a:r>
              <a:rPr lang="en-US" b="true" sz="4914" spc="19">
                <a:solidFill>
                  <a:srgbClr val="F1D4E4"/>
                </a:solidFill>
                <a:latin typeface="Barlow Bold"/>
                <a:ea typeface="Barlow Bold"/>
                <a:cs typeface="Barlow Bold"/>
                <a:sym typeface="Barlow Bold"/>
              </a:rPr>
              <a:t>PROBLEM STATEMENT</a:t>
            </a:r>
          </a:p>
          <a:p>
            <a:pPr algn="l">
              <a:lnSpc>
                <a:spcPts val="3309"/>
              </a:lnSpc>
            </a:pPr>
          </a:p>
        </p:txBody>
      </p:sp>
      <p:sp>
        <p:nvSpPr>
          <p:cNvPr name="TextBox 3" id="3"/>
          <p:cNvSpPr txBox="true"/>
          <p:nvPr/>
        </p:nvSpPr>
        <p:spPr>
          <a:xfrm rot="0">
            <a:off x="121717" y="2782174"/>
            <a:ext cx="17259300" cy="5126745"/>
          </a:xfrm>
          <a:prstGeom prst="rect">
            <a:avLst/>
          </a:prstGeom>
        </p:spPr>
        <p:txBody>
          <a:bodyPr anchor="t" rtlCol="false" tIns="0" lIns="0" bIns="0" rIns="0">
            <a:spAutoFit/>
          </a:bodyPr>
          <a:lstStyle/>
          <a:p>
            <a:pPr algn="l" marL="628191" indent="-314096" lvl="1">
              <a:lnSpc>
                <a:spcPts val="4073"/>
              </a:lnSpc>
              <a:buFont typeface="Arial"/>
              <a:buChar char="•"/>
            </a:pPr>
            <a:r>
              <a:rPr lang="en-US" b="true" sz="2909" spc="11">
                <a:solidFill>
                  <a:srgbClr val="FFFFFF"/>
                </a:solidFill>
                <a:latin typeface="Barlow Bold"/>
                <a:ea typeface="Barlow Bold"/>
                <a:cs typeface="Barlow Bold"/>
                <a:sym typeface="Barlow Bold"/>
              </a:rPr>
              <a:t>Existing virtual museums provide AI-based explanations but often operate as black-box systems.</a:t>
            </a:r>
          </a:p>
          <a:p>
            <a:pPr algn="l" marL="628191" indent="-314096" lvl="1">
              <a:lnSpc>
                <a:spcPts val="4073"/>
              </a:lnSpc>
              <a:buFont typeface="Arial"/>
              <a:buChar char="•"/>
            </a:pPr>
            <a:r>
              <a:rPr lang="en-US" b="true" sz="2909" spc="11">
                <a:solidFill>
                  <a:srgbClr val="FFFFFF"/>
                </a:solidFill>
                <a:latin typeface="Barlow Bold"/>
                <a:ea typeface="Barlow Bold"/>
                <a:cs typeface="Barlow Bold"/>
                <a:sym typeface="Barlow Bold"/>
              </a:rPr>
              <a:t>AI responses lack transparency, making it difficult for users to verify information.</a:t>
            </a:r>
          </a:p>
          <a:p>
            <a:pPr algn="l" marL="628191" indent="-314096" lvl="1">
              <a:lnSpc>
                <a:spcPts val="4073"/>
              </a:lnSpc>
              <a:buFont typeface="Arial"/>
              <a:buChar char="•"/>
            </a:pPr>
            <a:r>
              <a:rPr lang="en-US" b="true" sz="2909" spc="11">
                <a:solidFill>
                  <a:srgbClr val="FFFFFF"/>
                </a:solidFill>
                <a:latin typeface="Barlow Bold"/>
                <a:ea typeface="Barlow Bold"/>
                <a:cs typeface="Barlow Bold"/>
                <a:sym typeface="Barlow Bold"/>
              </a:rPr>
              <a:t>Limited context awareness, with minimal consideration of user history, exhibit location, and conversation context.</a:t>
            </a:r>
          </a:p>
          <a:p>
            <a:pPr algn="l" marL="628191" indent="-314096" lvl="1">
              <a:lnSpc>
                <a:spcPts val="4073"/>
              </a:lnSpc>
              <a:buFont typeface="Arial"/>
              <a:buChar char="•"/>
            </a:pPr>
            <a:r>
              <a:rPr lang="en-US" b="true" sz="2909" spc="11">
                <a:solidFill>
                  <a:srgbClr val="FFFFFF"/>
                </a:solidFill>
                <a:latin typeface="Barlow Bold"/>
                <a:ea typeface="Barlow Bold"/>
                <a:cs typeface="Barlow Bold"/>
                <a:sym typeface="Barlow Bold"/>
              </a:rPr>
              <a:t>Absence of source attribution, confidence scores, and explainable reasoning reduces user trust.</a:t>
            </a:r>
          </a:p>
          <a:p>
            <a:pPr algn="l" marL="628191" indent="-314096" lvl="1">
              <a:lnSpc>
                <a:spcPts val="4073"/>
              </a:lnSpc>
              <a:buFont typeface="Arial"/>
              <a:buChar char="•"/>
            </a:pPr>
            <a:r>
              <a:rPr lang="en-US" b="true" sz="2909" spc="11">
                <a:solidFill>
                  <a:srgbClr val="FFFFFF"/>
                </a:solidFill>
                <a:latin typeface="Barlow Bold"/>
                <a:ea typeface="Barlow Bold"/>
                <a:cs typeface="Barlow Bold"/>
                <a:sym typeface="Barlow Bold"/>
              </a:rPr>
              <a:t>Most existing solutions focus on either personalization or immersion, but not both with explainability.</a:t>
            </a:r>
          </a:p>
          <a:p>
            <a:pPr algn="l" marL="628191" indent="-314096" lvl="1">
              <a:lnSpc>
                <a:spcPts val="4073"/>
              </a:lnSpc>
              <a:buFont typeface="Arial"/>
              <a:buChar char="•"/>
            </a:pPr>
            <a:r>
              <a:rPr lang="en-US" b="true" sz="2909" spc="11">
                <a:solidFill>
                  <a:srgbClr val="FFFFFF"/>
                </a:solidFill>
                <a:latin typeface="Barlow Bold"/>
                <a:ea typeface="Barlow Bold"/>
                <a:cs typeface="Barlow Bold"/>
                <a:sym typeface="Barlow Bold"/>
              </a:rPr>
              <a:t>Few systems integrate AR, RAG, Context Awareness, and Explainable AI into a unified platform.</a:t>
            </a:r>
          </a:p>
          <a:p>
            <a:pPr algn="l" marL="628191" indent="-314096" lvl="1">
              <a:lnSpc>
                <a:spcPts val="4073"/>
              </a:lnSpc>
              <a:buFont typeface="Arial"/>
              <a:buChar char="•"/>
            </a:pPr>
            <a:r>
              <a:rPr lang="en-US" b="true" sz="2909" spc="11">
                <a:solidFill>
                  <a:srgbClr val="FFFFFF"/>
                </a:solidFill>
                <a:latin typeface="Barlow Bold"/>
                <a:ea typeface="Barlow Bold"/>
                <a:cs typeface="Barlow Bold"/>
                <a:sym typeface="Barlow Bold"/>
              </a:rPr>
              <a:t>Need: Develop a Context-Aware Explainable AI Curator that delivers accurate, personalized, and evidence-backed responses with source citations and confidence scores to enhance trust and learning.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365B6D"/>
        </a:solidFill>
      </p:bgPr>
    </p:bg>
    <p:spTree>
      <p:nvGrpSpPr>
        <p:cNvPr id="1" name=""/>
        <p:cNvGrpSpPr/>
        <p:nvPr/>
      </p:nvGrpSpPr>
      <p:grpSpPr>
        <a:xfrm>
          <a:off x="0" y="0"/>
          <a:ext cx="0" cy="0"/>
          <a:chOff x="0" y="0"/>
          <a:chExt cx="0" cy="0"/>
        </a:xfrm>
      </p:grpSpPr>
      <p:sp>
        <p:nvSpPr>
          <p:cNvPr name="Freeform 2" id="2"/>
          <p:cNvSpPr/>
          <p:nvPr/>
        </p:nvSpPr>
        <p:spPr>
          <a:xfrm flipH="false" flipV="false" rot="0">
            <a:off x="10463470" y="1222499"/>
            <a:ext cx="6026851" cy="8035801"/>
          </a:xfrm>
          <a:custGeom>
            <a:avLst/>
            <a:gdLst/>
            <a:ahLst/>
            <a:cxnLst/>
            <a:rect r="r" b="b" t="t" l="l"/>
            <a:pathLst>
              <a:path h="8035801" w="6026851">
                <a:moveTo>
                  <a:pt x="0" y="0"/>
                </a:moveTo>
                <a:lnTo>
                  <a:pt x="6026850" y="0"/>
                </a:lnTo>
                <a:lnTo>
                  <a:pt x="6026850" y="8035801"/>
                </a:lnTo>
                <a:lnTo>
                  <a:pt x="0" y="8035801"/>
                </a:lnTo>
                <a:lnTo>
                  <a:pt x="0" y="0"/>
                </a:lnTo>
                <a:close/>
              </a:path>
            </a:pathLst>
          </a:custGeom>
          <a:blipFill>
            <a:blip r:embed="rId2"/>
            <a:stretch>
              <a:fillRect l="0" t="0" r="0" b="0"/>
            </a:stretch>
          </a:blipFill>
        </p:spPr>
      </p:sp>
      <p:sp>
        <p:nvSpPr>
          <p:cNvPr name="TextBox 3" id="3"/>
          <p:cNvSpPr txBox="true"/>
          <p:nvPr/>
        </p:nvSpPr>
        <p:spPr>
          <a:xfrm rot="0">
            <a:off x="-565786" y="2631541"/>
            <a:ext cx="11961480" cy="4766742"/>
          </a:xfrm>
          <a:prstGeom prst="rect">
            <a:avLst/>
          </a:prstGeom>
        </p:spPr>
        <p:txBody>
          <a:bodyPr anchor="t" rtlCol="false" tIns="0" lIns="0" bIns="0" rIns="0">
            <a:spAutoFit/>
          </a:bodyPr>
          <a:lstStyle/>
          <a:p>
            <a:pPr algn="ctr">
              <a:lnSpc>
                <a:spcPts val="19191"/>
              </a:lnSpc>
              <a:spcBef>
                <a:spcPct val="0"/>
              </a:spcBef>
            </a:pPr>
            <a:r>
              <a:rPr lang="en-US" b="true" sz="13707" spc="54">
                <a:solidFill>
                  <a:srgbClr val="F1D4E4"/>
                </a:solidFill>
                <a:latin typeface="Barlow Bold"/>
                <a:ea typeface="Barlow Bold"/>
                <a:cs typeface="Barlow Bold"/>
                <a:sym typeface="Barlow Bold"/>
              </a:rPr>
              <a:t>RESEARCH GAP</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aphicFrame>
        <p:nvGraphicFramePr>
          <p:cNvPr name="Object 3" id="3"/>
          <p:cNvGraphicFramePr/>
          <p:nvPr/>
        </p:nvGraphicFramePr>
        <p:xfrm>
          <a:off x="0" y="0"/>
          <a:ext cx="5657850" cy="5657850"/>
        </p:xfrm>
        <a:graphic>
          <a:graphicData uri="http://schemas.openxmlformats.org/presentationml/2006/ole">
            <p:oleObj imgW="6781800" imgH="67818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Tree>
  </p:cSld>
  <p:clrMapOvr>
    <a:masterClrMapping/>
  </p:clrMapOvr>
</p:sld>
</file>

<file path=ppt/slides/slide15.xml><?xml version="1.0" encoding="utf-8"?>
<p:sld xmlns:p="http://schemas.openxmlformats.org/presentationml/2006/main" xmlns:a="http://schemas.openxmlformats.org/drawingml/2006/main">
  <p:cSld>
    <p:bg>
      <p:bgPr>
        <a:solidFill>
          <a:srgbClr val="365B6D"/>
        </a:solidFill>
      </p:bgPr>
    </p:bg>
    <p:spTree>
      <p:nvGrpSpPr>
        <p:cNvPr id="1" name=""/>
        <p:cNvGrpSpPr/>
        <p:nvPr/>
      </p:nvGrpSpPr>
      <p:grpSpPr>
        <a:xfrm>
          <a:off x="0" y="0"/>
          <a:ext cx="0" cy="0"/>
          <a:chOff x="0" y="0"/>
          <a:chExt cx="0" cy="0"/>
        </a:xfrm>
      </p:grpSpPr>
      <p:sp>
        <p:nvSpPr>
          <p:cNvPr name="TextBox 2" id="2"/>
          <p:cNvSpPr txBox="true"/>
          <p:nvPr/>
        </p:nvSpPr>
        <p:spPr>
          <a:xfrm rot="0">
            <a:off x="128342" y="-123825"/>
            <a:ext cx="18159658" cy="10101747"/>
          </a:xfrm>
          <a:prstGeom prst="rect">
            <a:avLst/>
          </a:prstGeom>
        </p:spPr>
        <p:txBody>
          <a:bodyPr anchor="t" rtlCol="false" tIns="0" lIns="0" bIns="0" rIns="0">
            <a:spAutoFit/>
          </a:bodyPr>
          <a:lstStyle/>
          <a:p>
            <a:pPr algn="l">
              <a:lnSpc>
                <a:spcPts val="8204"/>
              </a:lnSpc>
              <a:spcBef>
                <a:spcPct val="0"/>
              </a:spcBef>
            </a:pPr>
            <a:r>
              <a:rPr lang="en-US" b="true" sz="5860" spc="23">
                <a:solidFill>
                  <a:srgbClr val="F1D4E4"/>
                </a:solidFill>
                <a:latin typeface="Barlow Bold"/>
                <a:ea typeface="Barlow Bold"/>
                <a:cs typeface="Barlow Bold"/>
                <a:sym typeface="Barlow Bold"/>
              </a:rPr>
              <a:t>SUMMARY OF THE RESEARCH GAP</a:t>
            </a:r>
          </a:p>
          <a:p>
            <a:pPr algn="l">
              <a:lnSpc>
                <a:spcPts val="3816"/>
              </a:lnSpc>
              <a:spcBef>
                <a:spcPct val="0"/>
              </a:spcBef>
            </a:pPr>
          </a:p>
          <a:p>
            <a:pPr algn="l">
              <a:lnSpc>
                <a:spcPts val="3816"/>
              </a:lnSpc>
              <a:spcBef>
                <a:spcPct val="0"/>
              </a:spcBef>
            </a:pPr>
            <a:r>
              <a:rPr lang="en-US" b="true" sz="2726" spc="10">
                <a:solidFill>
                  <a:srgbClr val="FFFFFF"/>
                </a:solidFill>
                <a:latin typeface="Barlow Bold"/>
                <a:ea typeface="Barlow Bold"/>
                <a:cs typeface="Barlow Bold"/>
                <a:sym typeface="Barlow Bold"/>
              </a:rPr>
              <a:t>The existing literature demonstrates that Retrieval-Augmented Generation (RAG) improves the factual accuracy of AI-generated responses, while Virtual Reality (VR) enhances visitor engagement and context-aware techniques enable personalized museum experiences. However, most current systems focus primarily on generating responses and provide limited transparency regarding how those responses are produced. Key limitations include the lack of Explainable AI (XAI), absence of source attribution, unavailability of confidence estimation, and limited integration of multiple contextual signals into the retrieval process.</a:t>
            </a:r>
          </a:p>
          <a:p>
            <a:pPr algn="l">
              <a:lnSpc>
                <a:spcPts val="3816"/>
              </a:lnSpc>
              <a:spcBef>
                <a:spcPct val="0"/>
              </a:spcBef>
            </a:pPr>
          </a:p>
          <a:p>
            <a:pPr algn="l">
              <a:lnSpc>
                <a:spcPts val="3816"/>
              </a:lnSpc>
              <a:spcBef>
                <a:spcPct val="0"/>
              </a:spcBef>
            </a:pPr>
          </a:p>
          <a:p>
            <a:pPr algn="l">
              <a:lnSpc>
                <a:spcPts val="3816"/>
              </a:lnSpc>
              <a:spcBef>
                <a:spcPct val="0"/>
              </a:spcBef>
            </a:pPr>
            <a:r>
              <a:rPr lang="en-US" b="true" sz="2726" spc="10">
                <a:solidFill>
                  <a:srgbClr val="FFFFFF"/>
                </a:solidFill>
                <a:latin typeface="Barlow Bold"/>
                <a:ea typeface="Barlow Bold"/>
                <a:cs typeface="Barlow Bold"/>
                <a:sym typeface="Barlow Bold"/>
              </a:rPr>
              <a:t> Additionally, many existing solutions remain conceptual or prototype-based and have been evaluated using small datasets or limited user studies, restricting their practical applicability and reducing user trust.</a:t>
            </a:r>
          </a:p>
          <a:p>
            <a:pPr algn="l">
              <a:lnSpc>
                <a:spcPts val="3816"/>
              </a:lnSpc>
              <a:spcBef>
                <a:spcPct val="0"/>
              </a:spcBef>
            </a:pPr>
          </a:p>
          <a:p>
            <a:pPr algn="l">
              <a:lnSpc>
                <a:spcPts val="3816"/>
              </a:lnSpc>
              <a:spcBef>
                <a:spcPct val="0"/>
              </a:spcBef>
            </a:pPr>
          </a:p>
          <a:p>
            <a:pPr algn="l">
              <a:lnSpc>
                <a:spcPts val="3816"/>
              </a:lnSpc>
              <a:spcBef>
                <a:spcPct val="0"/>
              </a:spcBef>
            </a:pPr>
            <a:r>
              <a:rPr lang="en-US" b="true" sz="2726" spc="10">
                <a:solidFill>
                  <a:srgbClr val="FFFFFF"/>
                </a:solidFill>
                <a:latin typeface="Barlow Bold"/>
                <a:ea typeface="Barlow Bold"/>
                <a:cs typeface="Barlow Bold"/>
                <a:sym typeface="Barlow Bold"/>
              </a:rPr>
              <a:t>The proposed Context-Aware Explainable AI Curator for Virtual Museums using Retrieval-Augmented Generation addresses these research gaps by integrating context-aware retrieval, Explainable AI, source attribution, and confidence scoring into a unified end-to-end framework. By enabling users to understand not only what the AI answers but also why the answer was generated and which knowledge source supports it, the proposed system aims to improve transparency, reliability, user trust, and the overall educational experience in virtual museum environments.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grpSp>
        <p:nvGrpSpPr>
          <p:cNvPr name="Group 3" id="3"/>
          <p:cNvGrpSpPr/>
          <p:nvPr/>
        </p:nvGrpSpPr>
        <p:grpSpPr>
          <a:xfrm rot="-9278497">
            <a:off x="13587780" y="5089383"/>
            <a:ext cx="9966661" cy="99666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5" id="5"/>
            <p:cNvSpPr txBox="true"/>
            <p:nvPr/>
          </p:nvSpPr>
          <p:spPr>
            <a:xfrm>
              <a:off x="76200" y="809625"/>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15438586" y="6668025"/>
            <a:ext cx="6254675" cy="625467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15605106" y="1645646"/>
            <a:ext cx="228733" cy="22873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11" id="11"/>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grpSp>
        <p:nvGrpSpPr>
          <p:cNvPr name="Group 12" id="12"/>
          <p:cNvGrpSpPr/>
          <p:nvPr/>
        </p:nvGrpSpPr>
        <p:grpSpPr>
          <a:xfrm rot="0">
            <a:off x="15905555" y="1645646"/>
            <a:ext cx="228733" cy="22873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14" id="14"/>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grpSp>
        <p:nvGrpSpPr>
          <p:cNvPr name="Group 15" id="15"/>
          <p:cNvGrpSpPr/>
          <p:nvPr/>
        </p:nvGrpSpPr>
        <p:grpSpPr>
          <a:xfrm rot="-9278497">
            <a:off x="-5803234" y="-4205483"/>
            <a:ext cx="9966661" cy="996666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17" id="17"/>
            <p:cNvSpPr txBox="true"/>
            <p:nvPr/>
          </p:nvSpPr>
          <p:spPr>
            <a:xfrm>
              <a:off x="76200" y="809625"/>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18" id="18"/>
          <p:cNvGrpSpPr/>
          <p:nvPr/>
        </p:nvGrpSpPr>
        <p:grpSpPr>
          <a:xfrm rot="-9278497">
            <a:off x="-2997112" y="-1545956"/>
            <a:ext cx="5213104" cy="521310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20" id="20"/>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21" id="21"/>
          <p:cNvGrpSpPr/>
          <p:nvPr/>
        </p:nvGrpSpPr>
        <p:grpSpPr>
          <a:xfrm rot="0">
            <a:off x="16206003" y="1645646"/>
            <a:ext cx="228733" cy="22873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23" id="23"/>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sp>
        <p:nvSpPr>
          <p:cNvPr name="TextBox 24" id="24"/>
          <p:cNvSpPr txBox="true"/>
          <p:nvPr/>
        </p:nvSpPr>
        <p:spPr>
          <a:xfrm rot="0">
            <a:off x="4902791" y="523508"/>
            <a:ext cx="7697755" cy="969402"/>
          </a:xfrm>
          <a:prstGeom prst="rect">
            <a:avLst/>
          </a:prstGeom>
        </p:spPr>
        <p:txBody>
          <a:bodyPr anchor="t" rtlCol="false" tIns="0" lIns="0" bIns="0" rIns="0">
            <a:spAutoFit/>
          </a:bodyPr>
          <a:lstStyle/>
          <a:p>
            <a:pPr algn="ctr">
              <a:lnSpc>
                <a:spcPts val="7993"/>
              </a:lnSpc>
              <a:spcBef>
                <a:spcPct val="0"/>
              </a:spcBef>
            </a:pPr>
            <a:r>
              <a:rPr lang="en-US" b="true" sz="5709">
                <a:solidFill>
                  <a:srgbClr val="F7F7F7"/>
                </a:solidFill>
                <a:latin typeface="Barlow Bold"/>
                <a:ea typeface="Barlow Bold"/>
                <a:cs typeface="Barlow Bold"/>
                <a:sym typeface="Barlow Bold"/>
              </a:rPr>
              <a:t>Research Objectives</a:t>
            </a:r>
          </a:p>
        </p:txBody>
      </p:sp>
      <p:sp>
        <p:nvSpPr>
          <p:cNvPr name="TextBox 25" id="25"/>
          <p:cNvSpPr txBox="true"/>
          <p:nvPr/>
        </p:nvSpPr>
        <p:spPr>
          <a:xfrm rot="0">
            <a:off x="2564389" y="2578535"/>
            <a:ext cx="14694911" cy="6679765"/>
          </a:xfrm>
          <a:prstGeom prst="rect">
            <a:avLst/>
          </a:prstGeom>
        </p:spPr>
        <p:txBody>
          <a:bodyPr anchor="t" rtlCol="false" tIns="0" lIns="0" bIns="0" rIns="0">
            <a:spAutoFit/>
          </a:bodyPr>
          <a:lstStyle/>
          <a:p>
            <a:pPr algn="l" marL="1029221" indent="-514611" lvl="1">
              <a:lnSpc>
                <a:spcPts val="6673"/>
              </a:lnSpc>
              <a:buFont typeface="Arial"/>
              <a:buChar char="•"/>
            </a:pPr>
            <a:r>
              <a:rPr lang="en-US" b="true" sz="4767">
                <a:solidFill>
                  <a:srgbClr val="F7F7F7"/>
                </a:solidFill>
                <a:latin typeface="Barlow Semi-Bold"/>
                <a:ea typeface="Barlow Semi-Bold"/>
                <a:cs typeface="Barlow Semi-Bold"/>
                <a:sym typeface="Barlow Semi-Bold"/>
              </a:rPr>
              <a:t>Study existing virtual museum systems.</a:t>
            </a:r>
          </a:p>
          <a:p>
            <a:pPr algn="l" marL="1029221" indent="-514611" lvl="1">
              <a:lnSpc>
                <a:spcPts val="6673"/>
              </a:lnSpc>
              <a:buFont typeface="Arial"/>
              <a:buChar char="•"/>
            </a:pPr>
            <a:r>
              <a:rPr lang="en-US" b="true" sz="4767">
                <a:solidFill>
                  <a:srgbClr val="F7F7F7"/>
                </a:solidFill>
                <a:latin typeface="Barlow Semi-Bold"/>
                <a:ea typeface="Barlow Semi-Bold"/>
                <a:cs typeface="Barlow Semi-Bold"/>
                <a:sym typeface="Barlow Semi-Bold"/>
              </a:rPr>
              <a:t>Design an AI-powered virtual museum.</a:t>
            </a:r>
          </a:p>
          <a:p>
            <a:pPr algn="l" marL="1029221" indent="-514611" lvl="1">
              <a:lnSpc>
                <a:spcPts val="6673"/>
              </a:lnSpc>
              <a:buFont typeface="Arial"/>
              <a:buChar char="•"/>
            </a:pPr>
            <a:r>
              <a:rPr lang="en-US" b="true" sz="4767">
                <a:solidFill>
                  <a:srgbClr val="F7F7F7"/>
                </a:solidFill>
                <a:latin typeface="Barlow Semi-Bold"/>
                <a:ea typeface="Barlow Semi-Bold"/>
                <a:cs typeface="Barlow Semi-Bold"/>
                <a:sym typeface="Barlow Semi-Bold"/>
              </a:rPr>
              <a:t>Integrate AR with Retrieval-Augmented Generation.</a:t>
            </a:r>
          </a:p>
          <a:p>
            <a:pPr algn="l" marL="1029221" indent="-514611" lvl="1">
              <a:lnSpc>
                <a:spcPts val="6673"/>
              </a:lnSpc>
              <a:buFont typeface="Arial"/>
              <a:buChar char="•"/>
            </a:pPr>
            <a:r>
              <a:rPr lang="en-US" b="true" sz="4767">
                <a:solidFill>
                  <a:srgbClr val="F7F7F7"/>
                </a:solidFill>
                <a:latin typeface="Barlow Semi-Bold"/>
                <a:ea typeface="Barlow Semi-Bold"/>
                <a:cs typeface="Barlow Semi-Bold"/>
                <a:sym typeface="Barlow Semi-Bold"/>
              </a:rPr>
              <a:t>Develop a context-aware recommendation system.</a:t>
            </a:r>
          </a:p>
          <a:p>
            <a:pPr algn="l" marL="1029221" indent="-514611" lvl="1">
              <a:lnSpc>
                <a:spcPts val="6673"/>
              </a:lnSpc>
              <a:buFont typeface="Arial"/>
              <a:buChar char="•"/>
            </a:pPr>
            <a:r>
              <a:rPr lang="en-US" b="true" sz="4767">
                <a:solidFill>
                  <a:srgbClr val="F7F7F7"/>
                </a:solidFill>
                <a:latin typeface="Barlow Semi-Bold"/>
                <a:ea typeface="Barlow Semi-Bold"/>
                <a:cs typeface="Barlow Semi-Bold"/>
                <a:sym typeface="Barlow Semi-Bold"/>
              </a:rPr>
              <a:t>Improve response accuracy using trusted sources.</a:t>
            </a:r>
          </a:p>
          <a:p>
            <a:pPr algn="l" marL="1029221" indent="-514611" lvl="1">
              <a:lnSpc>
                <a:spcPts val="6673"/>
              </a:lnSpc>
              <a:buFont typeface="Arial"/>
              <a:buChar char="•"/>
            </a:pPr>
            <a:r>
              <a:rPr lang="en-US" b="true" sz="4767">
                <a:solidFill>
                  <a:srgbClr val="F7F7F7"/>
                </a:solidFill>
                <a:latin typeface="Barlow Semi-Bold"/>
                <a:ea typeface="Barlow Semi-Bold"/>
                <a:cs typeface="Barlow Semi-Bold"/>
                <a:sym typeface="Barlow Semi-Bold"/>
              </a:rPr>
              <a:t>Provide explainable AI-based responses.</a:t>
            </a:r>
          </a:p>
          <a:p>
            <a:pPr algn="l" marL="1029221" indent="-514611" lvl="1">
              <a:lnSpc>
                <a:spcPts val="6673"/>
              </a:lnSpc>
              <a:buFont typeface="Arial"/>
              <a:buChar char="•"/>
            </a:pPr>
            <a:r>
              <a:rPr lang="en-US" b="true" sz="4767">
                <a:solidFill>
                  <a:srgbClr val="F7F7F7"/>
                </a:solidFill>
                <a:latin typeface="Barlow Semi-Bold"/>
                <a:ea typeface="Barlow Semi-Bold"/>
                <a:cs typeface="Barlow Semi-Bold"/>
                <a:sym typeface="Barlow Semi-Bold"/>
              </a:rPr>
              <a:t>Evaluate system performance.</a:t>
            </a:r>
          </a:p>
          <a:p>
            <a:pPr algn="l">
              <a:lnSpc>
                <a:spcPts val="6673"/>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grpSp>
        <p:nvGrpSpPr>
          <p:cNvPr name="Group 3" id="3"/>
          <p:cNvGrpSpPr/>
          <p:nvPr/>
        </p:nvGrpSpPr>
        <p:grpSpPr>
          <a:xfrm rot="-9278497">
            <a:off x="13587780" y="5089383"/>
            <a:ext cx="9966661" cy="99666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5" id="5"/>
            <p:cNvSpPr txBox="true"/>
            <p:nvPr/>
          </p:nvSpPr>
          <p:spPr>
            <a:xfrm>
              <a:off x="76200" y="809625"/>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15438586" y="6668025"/>
            <a:ext cx="6254675" cy="625467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15605106" y="1645646"/>
            <a:ext cx="228733" cy="22873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11" id="11"/>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grpSp>
        <p:nvGrpSpPr>
          <p:cNvPr name="Group 12" id="12"/>
          <p:cNvGrpSpPr/>
          <p:nvPr/>
        </p:nvGrpSpPr>
        <p:grpSpPr>
          <a:xfrm rot="0">
            <a:off x="15905555" y="1645646"/>
            <a:ext cx="228733" cy="22873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14" id="14"/>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grpSp>
        <p:nvGrpSpPr>
          <p:cNvPr name="Group 15" id="15"/>
          <p:cNvGrpSpPr/>
          <p:nvPr/>
        </p:nvGrpSpPr>
        <p:grpSpPr>
          <a:xfrm rot="-9278497">
            <a:off x="-5803234" y="-4205483"/>
            <a:ext cx="9966661" cy="996666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17" id="17"/>
            <p:cNvSpPr txBox="true"/>
            <p:nvPr/>
          </p:nvSpPr>
          <p:spPr>
            <a:xfrm>
              <a:off x="76200" y="809625"/>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18" id="18"/>
          <p:cNvGrpSpPr/>
          <p:nvPr/>
        </p:nvGrpSpPr>
        <p:grpSpPr>
          <a:xfrm rot="-9278497">
            <a:off x="-2997112" y="-1545956"/>
            <a:ext cx="5213104" cy="521310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20" id="20"/>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21" id="21"/>
          <p:cNvGrpSpPr/>
          <p:nvPr/>
        </p:nvGrpSpPr>
        <p:grpSpPr>
          <a:xfrm rot="0">
            <a:off x="16206003" y="1645646"/>
            <a:ext cx="228733" cy="22873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23" id="23"/>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sp>
        <p:nvSpPr>
          <p:cNvPr name="TextBox 24" id="24"/>
          <p:cNvSpPr txBox="true"/>
          <p:nvPr/>
        </p:nvSpPr>
        <p:spPr>
          <a:xfrm rot="0">
            <a:off x="4902791" y="523508"/>
            <a:ext cx="7697755" cy="969402"/>
          </a:xfrm>
          <a:prstGeom prst="rect">
            <a:avLst/>
          </a:prstGeom>
        </p:spPr>
        <p:txBody>
          <a:bodyPr anchor="t" rtlCol="false" tIns="0" lIns="0" bIns="0" rIns="0">
            <a:spAutoFit/>
          </a:bodyPr>
          <a:lstStyle/>
          <a:p>
            <a:pPr algn="ctr">
              <a:lnSpc>
                <a:spcPts val="7993"/>
              </a:lnSpc>
              <a:spcBef>
                <a:spcPct val="0"/>
              </a:spcBef>
            </a:pPr>
            <a:r>
              <a:rPr lang="en-US" b="true" sz="5709">
                <a:solidFill>
                  <a:srgbClr val="F7F7F7"/>
                </a:solidFill>
                <a:latin typeface="Barlow Bold"/>
                <a:ea typeface="Barlow Bold"/>
                <a:cs typeface="Barlow Bold"/>
                <a:sym typeface="Barlow Bold"/>
              </a:rPr>
              <a:t>Proposed</a:t>
            </a:r>
            <a:r>
              <a:rPr lang="en-US" b="true" sz="5709">
                <a:solidFill>
                  <a:srgbClr val="F7F7F7"/>
                </a:solidFill>
                <a:latin typeface="Barlow Bold"/>
                <a:ea typeface="Barlow Bold"/>
                <a:cs typeface="Barlow Bold"/>
                <a:sym typeface="Barlow Bold"/>
              </a:rPr>
              <a:t> Methodology</a:t>
            </a:r>
          </a:p>
        </p:txBody>
      </p:sp>
      <p:sp>
        <p:nvSpPr>
          <p:cNvPr name="TextBox 25" id="25"/>
          <p:cNvSpPr txBox="true"/>
          <p:nvPr/>
        </p:nvSpPr>
        <p:spPr>
          <a:xfrm rot="0">
            <a:off x="424343" y="2722680"/>
            <a:ext cx="9567971" cy="7564320"/>
          </a:xfrm>
          <a:prstGeom prst="rect">
            <a:avLst/>
          </a:prstGeom>
        </p:spPr>
        <p:txBody>
          <a:bodyPr anchor="t" rtlCol="false" tIns="0" lIns="0" bIns="0" rIns="0">
            <a:spAutoFit/>
          </a:bodyPr>
          <a:lstStyle/>
          <a:p>
            <a:pPr algn="l">
              <a:lnSpc>
                <a:spcPts val="6813"/>
              </a:lnSpc>
            </a:pPr>
            <a:r>
              <a:rPr lang="en-US" sz="4867" b="true">
                <a:solidFill>
                  <a:srgbClr val="F7F7F7"/>
                </a:solidFill>
                <a:latin typeface="Barlow Semi-Bold"/>
                <a:ea typeface="Barlow Semi-Bold"/>
                <a:cs typeface="Barlow Semi-Bold"/>
                <a:sym typeface="Barlow Semi-Bold"/>
              </a:rPr>
              <a:t>Input</a:t>
            </a:r>
          </a:p>
          <a:p>
            <a:pPr algn="l" marL="1029221" indent="-514611" lvl="1">
              <a:lnSpc>
                <a:spcPts val="6673"/>
              </a:lnSpc>
              <a:buFont typeface="Arial"/>
              <a:buChar char="•"/>
            </a:pPr>
            <a:r>
              <a:rPr lang="en-US" b="true" sz="4767">
                <a:solidFill>
                  <a:srgbClr val="F7F7F7"/>
                </a:solidFill>
                <a:latin typeface="Barlow Semi-Bold"/>
                <a:ea typeface="Barlow Semi-Bold"/>
                <a:cs typeface="Barlow Semi-Bold"/>
                <a:sym typeface="Barlow Semi-Bold"/>
              </a:rPr>
              <a:t>U</a:t>
            </a:r>
            <a:r>
              <a:rPr lang="en-US" b="true" sz="4767">
                <a:solidFill>
                  <a:srgbClr val="F7F7F7"/>
                </a:solidFill>
                <a:latin typeface="Barlow Semi-Bold"/>
                <a:ea typeface="Barlow Semi-Bold"/>
                <a:cs typeface="Barlow Semi-Bold"/>
                <a:sym typeface="Barlow Semi-Bold"/>
              </a:rPr>
              <a:t>ser</a:t>
            </a:r>
            <a:r>
              <a:rPr lang="en-US" b="true" sz="4767">
                <a:solidFill>
                  <a:srgbClr val="F7F7F7"/>
                </a:solidFill>
                <a:latin typeface="Barlow Semi-Bold"/>
                <a:ea typeface="Barlow Semi-Bold"/>
                <a:cs typeface="Barlow Semi-Bold"/>
                <a:sym typeface="Barlow Semi-Bold"/>
              </a:rPr>
              <a:t> Query</a:t>
            </a:r>
          </a:p>
          <a:p>
            <a:pPr algn="l" marL="1029221" indent="-514611" lvl="1">
              <a:lnSpc>
                <a:spcPts val="6673"/>
              </a:lnSpc>
              <a:buFont typeface="Arial"/>
              <a:buChar char="•"/>
            </a:pPr>
            <a:r>
              <a:rPr lang="en-US" b="true" sz="4767">
                <a:solidFill>
                  <a:srgbClr val="F7F7F7"/>
                </a:solidFill>
                <a:latin typeface="Barlow Semi-Bold"/>
                <a:ea typeface="Barlow Semi-Bold"/>
                <a:cs typeface="Barlow Semi-Bold"/>
                <a:sym typeface="Barlow Semi-Bold"/>
              </a:rPr>
              <a:t>Selected Artifact</a:t>
            </a:r>
          </a:p>
          <a:p>
            <a:pPr algn="l" marL="1029221" indent="-514611" lvl="1">
              <a:lnSpc>
                <a:spcPts val="6673"/>
              </a:lnSpc>
              <a:buFont typeface="Arial"/>
              <a:buChar char="•"/>
            </a:pPr>
            <a:r>
              <a:rPr lang="en-US" b="true" sz="4767">
                <a:solidFill>
                  <a:srgbClr val="F7F7F7"/>
                </a:solidFill>
                <a:latin typeface="Barlow Semi-Bold"/>
                <a:ea typeface="Barlow Semi-Bold"/>
                <a:cs typeface="Barlow Semi-Bold"/>
                <a:sym typeface="Barlow Semi-Bold"/>
              </a:rPr>
              <a:t>Museum Knowledge Base</a:t>
            </a:r>
          </a:p>
          <a:p>
            <a:pPr algn="l">
              <a:lnSpc>
                <a:spcPts val="6813"/>
              </a:lnSpc>
            </a:pPr>
            <a:r>
              <a:rPr lang="en-US" b="true" sz="4867">
                <a:solidFill>
                  <a:srgbClr val="F7F7F7"/>
                </a:solidFill>
                <a:latin typeface="Barlow Semi-Bold"/>
                <a:ea typeface="Barlow Semi-Bold"/>
                <a:cs typeface="Barlow Semi-Bold"/>
                <a:sym typeface="Barlow Semi-Bold"/>
              </a:rPr>
              <a:t>Output</a:t>
            </a:r>
          </a:p>
          <a:p>
            <a:pPr algn="l" marL="1029221" indent="-514611" lvl="1">
              <a:lnSpc>
                <a:spcPts val="6673"/>
              </a:lnSpc>
              <a:buFont typeface="Arial"/>
              <a:buChar char="•"/>
            </a:pPr>
            <a:r>
              <a:rPr lang="en-US" b="true" sz="4767">
                <a:solidFill>
                  <a:srgbClr val="F7F7F7"/>
                </a:solidFill>
                <a:latin typeface="Barlow Semi-Bold"/>
                <a:ea typeface="Barlow Semi-Bold"/>
                <a:cs typeface="Barlow Semi-Bold"/>
                <a:sym typeface="Barlow Semi-Bold"/>
              </a:rPr>
              <a:t>AI Explanation</a:t>
            </a:r>
          </a:p>
          <a:p>
            <a:pPr algn="l" marL="1029221" indent="-514611" lvl="1">
              <a:lnSpc>
                <a:spcPts val="6673"/>
              </a:lnSpc>
              <a:buFont typeface="Arial"/>
              <a:buChar char="•"/>
            </a:pPr>
            <a:r>
              <a:rPr lang="en-US" b="true" sz="4767">
                <a:solidFill>
                  <a:srgbClr val="F7F7F7"/>
                </a:solidFill>
                <a:latin typeface="Barlow Semi-Bold"/>
                <a:ea typeface="Barlow Semi-Bold"/>
                <a:cs typeface="Barlow Semi-Bold"/>
                <a:sym typeface="Barlow Semi-Bold"/>
              </a:rPr>
              <a:t>Source-backed Response</a:t>
            </a:r>
          </a:p>
          <a:p>
            <a:pPr algn="l" marL="1029221" indent="-514611" lvl="1">
              <a:lnSpc>
                <a:spcPts val="6673"/>
              </a:lnSpc>
              <a:buFont typeface="Arial"/>
              <a:buChar char="•"/>
            </a:pPr>
            <a:r>
              <a:rPr lang="en-US" b="true" sz="4767">
                <a:solidFill>
                  <a:srgbClr val="F7F7F7"/>
                </a:solidFill>
                <a:latin typeface="Barlow Semi-Bold"/>
                <a:ea typeface="Barlow Semi-Bold"/>
                <a:cs typeface="Barlow Semi-Bold"/>
                <a:sym typeface="Barlow Semi-Bold"/>
              </a:rPr>
              <a:t>Personalized Recommendations</a:t>
            </a:r>
          </a:p>
          <a:p>
            <a:pPr algn="l">
              <a:lnSpc>
                <a:spcPts val="6673"/>
              </a:lnSpc>
            </a:pPr>
          </a:p>
        </p:txBody>
      </p:sp>
      <p:sp>
        <p:nvSpPr>
          <p:cNvPr name="TextBox 26" id="26"/>
          <p:cNvSpPr txBox="true"/>
          <p:nvPr/>
        </p:nvSpPr>
        <p:spPr>
          <a:xfrm rot="0">
            <a:off x="9222931" y="2732205"/>
            <a:ext cx="8578129" cy="3841470"/>
          </a:xfrm>
          <a:prstGeom prst="rect">
            <a:avLst/>
          </a:prstGeom>
        </p:spPr>
        <p:txBody>
          <a:bodyPr anchor="t" rtlCol="false" tIns="0" lIns="0" bIns="0" rIns="0">
            <a:spAutoFit/>
          </a:bodyPr>
          <a:lstStyle/>
          <a:p>
            <a:pPr algn="l">
              <a:lnSpc>
                <a:spcPts val="6140"/>
              </a:lnSpc>
            </a:pPr>
            <a:r>
              <a:rPr lang="en-US" b="true" sz="4386" spc="17">
                <a:solidFill>
                  <a:srgbClr val="F7F7F7"/>
                </a:solidFill>
                <a:latin typeface="Barlow Bold"/>
                <a:ea typeface="Barlow Bold"/>
                <a:cs typeface="Barlow Bold"/>
                <a:sym typeface="Barlow Bold"/>
              </a:rPr>
              <a:t>Overall Architecture</a:t>
            </a:r>
          </a:p>
          <a:p>
            <a:pPr algn="l" marL="946942" indent="-473471" lvl="1">
              <a:lnSpc>
                <a:spcPts val="6140"/>
              </a:lnSpc>
              <a:buFont typeface="Arial"/>
              <a:buChar char="•"/>
            </a:pPr>
            <a:r>
              <a:rPr lang="en-US" b="true" sz="4386" spc="17">
                <a:solidFill>
                  <a:srgbClr val="F7F7F7"/>
                </a:solidFill>
                <a:latin typeface="Barlow Bold"/>
                <a:ea typeface="Barlow Bold"/>
                <a:cs typeface="Barlow Bold"/>
                <a:sym typeface="Barlow Bold"/>
              </a:rPr>
              <a:t>AR-based mobile application</a:t>
            </a:r>
          </a:p>
          <a:p>
            <a:pPr algn="l" marL="946942" indent="-473471" lvl="1">
              <a:lnSpc>
                <a:spcPts val="6140"/>
              </a:lnSpc>
              <a:buFont typeface="Arial"/>
              <a:buChar char="•"/>
            </a:pPr>
            <a:r>
              <a:rPr lang="en-US" b="true" sz="4386" spc="17">
                <a:solidFill>
                  <a:srgbClr val="F7F7F7"/>
                </a:solidFill>
                <a:latin typeface="Barlow Bold"/>
                <a:ea typeface="Barlow Bold"/>
                <a:cs typeface="Barlow Bold"/>
                <a:sym typeface="Barlow Bold"/>
              </a:rPr>
              <a:t>FastAPI backend</a:t>
            </a:r>
          </a:p>
          <a:p>
            <a:pPr algn="l" marL="946942" indent="-473471" lvl="1">
              <a:lnSpc>
                <a:spcPts val="6140"/>
              </a:lnSpc>
              <a:buFont typeface="Arial"/>
              <a:buChar char="•"/>
            </a:pPr>
            <a:r>
              <a:rPr lang="en-US" b="true" sz="4386" spc="17">
                <a:solidFill>
                  <a:srgbClr val="F7F7F7"/>
                </a:solidFill>
                <a:latin typeface="Barlow Bold"/>
                <a:ea typeface="Barlow Bold"/>
                <a:cs typeface="Barlow Bold"/>
                <a:sym typeface="Barlow Bold"/>
              </a:rPr>
              <a:t>RAG-enabled AI Curator</a:t>
            </a:r>
          </a:p>
          <a:p>
            <a:pPr algn="l" marL="946942" indent="-473471" lvl="1">
              <a:lnSpc>
                <a:spcPts val="6140"/>
              </a:lnSpc>
              <a:buFont typeface="Arial"/>
              <a:buChar char="•"/>
            </a:pPr>
            <a:r>
              <a:rPr lang="en-US" b="true" sz="4386" spc="17">
                <a:solidFill>
                  <a:srgbClr val="F7F7F7"/>
                </a:solidFill>
                <a:latin typeface="Barlow Bold"/>
                <a:ea typeface="Barlow Bold"/>
                <a:cs typeface="Barlow Bold"/>
                <a:sym typeface="Barlow Bold"/>
              </a:rPr>
              <a:t>MongoDB &amp; ChromaDB storage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grpSp>
        <p:nvGrpSpPr>
          <p:cNvPr name="Group 3" id="3"/>
          <p:cNvGrpSpPr/>
          <p:nvPr/>
        </p:nvGrpSpPr>
        <p:grpSpPr>
          <a:xfrm rot="-9278497">
            <a:off x="13587780" y="5089383"/>
            <a:ext cx="9966661" cy="99666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5" id="5"/>
            <p:cNvSpPr txBox="true"/>
            <p:nvPr/>
          </p:nvSpPr>
          <p:spPr>
            <a:xfrm>
              <a:off x="76200" y="809625"/>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15438586" y="6668025"/>
            <a:ext cx="6254675" cy="625467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15605106" y="1645646"/>
            <a:ext cx="228733" cy="22873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11" id="11"/>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grpSp>
        <p:nvGrpSpPr>
          <p:cNvPr name="Group 12" id="12"/>
          <p:cNvGrpSpPr/>
          <p:nvPr/>
        </p:nvGrpSpPr>
        <p:grpSpPr>
          <a:xfrm rot="0">
            <a:off x="15905555" y="1645646"/>
            <a:ext cx="228733" cy="22873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14" id="14"/>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grpSp>
        <p:nvGrpSpPr>
          <p:cNvPr name="Group 15" id="15"/>
          <p:cNvGrpSpPr/>
          <p:nvPr/>
        </p:nvGrpSpPr>
        <p:grpSpPr>
          <a:xfrm rot="-9278497">
            <a:off x="-5803234" y="-4205483"/>
            <a:ext cx="9966661" cy="996666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17" id="17"/>
            <p:cNvSpPr txBox="true"/>
            <p:nvPr/>
          </p:nvSpPr>
          <p:spPr>
            <a:xfrm>
              <a:off x="76200" y="809625"/>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18" id="18"/>
          <p:cNvGrpSpPr/>
          <p:nvPr/>
        </p:nvGrpSpPr>
        <p:grpSpPr>
          <a:xfrm rot="-9278497">
            <a:off x="-2997112" y="-1545956"/>
            <a:ext cx="5213104" cy="521310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20" id="20"/>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21" id="21"/>
          <p:cNvGrpSpPr/>
          <p:nvPr/>
        </p:nvGrpSpPr>
        <p:grpSpPr>
          <a:xfrm rot="0">
            <a:off x="16206003" y="1645646"/>
            <a:ext cx="228733" cy="22873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23" id="23"/>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sp>
        <p:nvSpPr>
          <p:cNvPr name="TextBox 24" id="24"/>
          <p:cNvSpPr txBox="true"/>
          <p:nvPr/>
        </p:nvSpPr>
        <p:spPr>
          <a:xfrm rot="0">
            <a:off x="4902791" y="523508"/>
            <a:ext cx="7697755" cy="969402"/>
          </a:xfrm>
          <a:prstGeom prst="rect">
            <a:avLst/>
          </a:prstGeom>
        </p:spPr>
        <p:txBody>
          <a:bodyPr anchor="t" rtlCol="false" tIns="0" lIns="0" bIns="0" rIns="0">
            <a:spAutoFit/>
          </a:bodyPr>
          <a:lstStyle/>
          <a:p>
            <a:pPr algn="ctr">
              <a:lnSpc>
                <a:spcPts val="7993"/>
              </a:lnSpc>
              <a:spcBef>
                <a:spcPct val="0"/>
              </a:spcBef>
            </a:pPr>
            <a:r>
              <a:rPr lang="en-US" b="true" sz="5709">
                <a:solidFill>
                  <a:srgbClr val="F7F7F7"/>
                </a:solidFill>
                <a:latin typeface="Barlow Bold"/>
                <a:ea typeface="Barlow Bold"/>
                <a:cs typeface="Barlow Bold"/>
                <a:sym typeface="Barlow Bold"/>
              </a:rPr>
              <a:t>Proposed</a:t>
            </a:r>
            <a:r>
              <a:rPr lang="en-US" b="true" sz="5709">
                <a:solidFill>
                  <a:srgbClr val="F7F7F7"/>
                </a:solidFill>
                <a:latin typeface="Barlow Bold"/>
                <a:ea typeface="Barlow Bold"/>
                <a:cs typeface="Barlow Bold"/>
                <a:sym typeface="Barlow Bold"/>
              </a:rPr>
              <a:t> Methodology</a:t>
            </a:r>
          </a:p>
        </p:txBody>
      </p:sp>
      <p:sp>
        <p:nvSpPr>
          <p:cNvPr name="TextBox 25" id="25"/>
          <p:cNvSpPr txBox="true"/>
          <p:nvPr/>
        </p:nvSpPr>
        <p:spPr>
          <a:xfrm rot="0">
            <a:off x="401016" y="1540871"/>
            <a:ext cx="8086942" cy="9393120"/>
          </a:xfrm>
          <a:prstGeom prst="rect">
            <a:avLst/>
          </a:prstGeom>
        </p:spPr>
        <p:txBody>
          <a:bodyPr anchor="t" rtlCol="false" tIns="0" lIns="0" bIns="0" rIns="0">
            <a:spAutoFit/>
          </a:bodyPr>
          <a:lstStyle/>
          <a:p>
            <a:pPr algn="l">
              <a:lnSpc>
                <a:spcPts val="6813"/>
              </a:lnSpc>
            </a:pPr>
            <a:r>
              <a:rPr lang="en-US" sz="4867" b="true">
                <a:solidFill>
                  <a:srgbClr val="F7F7F7"/>
                </a:solidFill>
                <a:latin typeface="Barlow Semi-Bold"/>
                <a:ea typeface="Barlow Semi-Bold"/>
                <a:cs typeface="Barlow Semi-Bold"/>
                <a:sym typeface="Barlow Semi-Bold"/>
              </a:rPr>
              <a:t>Data</a:t>
            </a:r>
            <a:r>
              <a:rPr lang="en-US" sz="4867" b="true">
                <a:solidFill>
                  <a:srgbClr val="F7F7F7"/>
                </a:solidFill>
                <a:latin typeface="Barlow Semi-Bold"/>
                <a:ea typeface="Barlow Semi-Bold"/>
                <a:cs typeface="Barlow Semi-Bold"/>
                <a:sym typeface="Barlow Semi-Bold"/>
              </a:rPr>
              <a:t>set</a:t>
            </a:r>
            <a:r>
              <a:rPr lang="en-US" b="true" sz="4867">
                <a:solidFill>
                  <a:srgbClr val="F7F7F7"/>
                </a:solidFill>
                <a:latin typeface="Barlow Semi-Bold"/>
                <a:ea typeface="Barlow Semi-Bold"/>
                <a:cs typeface="Barlow Semi-Bold"/>
                <a:sym typeface="Barlow Semi-Bold"/>
              </a:rPr>
              <a:t> Collection / Selection</a:t>
            </a:r>
          </a:p>
          <a:p>
            <a:pPr algn="l" marL="1050811" indent="-525405" lvl="1">
              <a:lnSpc>
                <a:spcPts val="6813"/>
              </a:lnSpc>
              <a:buFont typeface="Arial"/>
              <a:buChar char="•"/>
            </a:pPr>
            <a:r>
              <a:rPr lang="en-US" b="true" sz="4867">
                <a:solidFill>
                  <a:srgbClr val="F7F7F7"/>
                </a:solidFill>
                <a:latin typeface="Barlow Semi-Bold"/>
                <a:ea typeface="Barlow Semi-Bold"/>
                <a:cs typeface="Barlow Semi-Bold"/>
                <a:sym typeface="Barlow Semi-Bold"/>
              </a:rPr>
              <a:t>Museum metadata</a:t>
            </a:r>
          </a:p>
          <a:p>
            <a:pPr algn="l" marL="1050811" indent="-525405" lvl="1">
              <a:lnSpc>
                <a:spcPts val="6813"/>
              </a:lnSpc>
              <a:buFont typeface="Arial"/>
              <a:buChar char="•"/>
            </a:pPr>
            <a:r>
              <a:rPr lang="en-US" b="true" sz="4867">
                <a:solidFill>
                  <a:srgbClr val="F7F7F7"/>
                </a:solidFill>
                <a:latin typeface="Barlow Semi-Bold"/>
                <a:ea typeface="Barlow Semi-Bold"/>
                <a:cs typeface="Barlow Semi-Bold"/>
                <a:sym typeface="Barlow Semi-Bold"/>
              </a:rPr>
              <a:t>His</a:t>
            </a:r>
            <a:r>
              <a:rPr lang="en-US" b="true" sz="4867">
                <a:solidFill>
                  <a:srgbClr val="F7F7F7"/>
                </a:solidFill>
                <a:latin typeface="Barlow Semi-Bold"/>
                <a:ea typeface="Barlow Semi-Bold"/>
                <a:cs typeface="Barlow Semi-Bold"/>
                <a:sym typeface="Barlow Semi-Bold"/>
              </a:rPr>
              <a:t>torical documents</a:t>
            </a:r>
          </a:p>
          <a:p>
            <a:pPr algn="l" marL="1050811" indent="-525405" lvl="1">
              <a:lnSpc>
                <a:spcPts val="6813"/>
              </a:lnSpc>
              <a:buFont typeface="Arial"/>
              <a:buChar char="•"/>
            </a:pPr>
            <a:r>
              <a:rPr lang="en-US" b="true" sz="4867">
                <a:solidFill>
                  <a:srgbClr val="F7F7F7"/>
                </a:solidFill>
                <a:latin typeface="Barlow Semi-Bold"/>
                <a:ea typeface="Barlow Semi-Bold"/>
                <a:cs typeface="Barlow Semi-Bold"/>
                <a:sym typeface="Barlow Semi-Bold"/>
              </a:rPr>
              <a:t>Rese</a:t>
            </a:r>
            <a:r>
              <a:rPr lang="en-US" b="true" sz="4867">
                <a:solidFill>
                  <a:srgbClr val="F7F7F7"/>
                </a:solidFill>
                <a:latin typeface="Barlow Semi-Bold"/>
                <a:ea typeface="Barlow Semi-Bold"/>
                <a:cs typeface="Barlow Semi-Bold"/>
                <a:sym typeface="Barlow Semi-Bold"/>
              </a:rPr>
              <a:t>arch articles</a:t>
            </a:r>
          </a:p>
          <a:p>
            <a:pPr algn="l" marL="1050811" indent="-525405" lvl="1">
              <a:lnSpc>
                <a:spcPts val="6813"/>
              </a:lnSpc>
              <a:buFont typeface="Arial"/>
              <a:buChar char="•"/>
            </a:pPr>
            <a:r>
              <a:rPr lang="en-US" b="true" sz="4867">
                <a:solidFill>
                  <a:srgbClr val="F7F7F7"/>
                </a:solidFill>
                <a:latin typeface="Barlow Semi-Bold"/>
                <a:ea typeface="Barlow Semi-Bold"/>
                <a:cs typeface="Barlow Semi-Bold"/>
                <a:sym typeface="Barlow Semi-Bold"/>
              </a:rPr>
              <a:t>3D artifact models</a:t>
            </a:r>
          </a:p>
          <a:p>
            <a:pPr algn="l">
              <a:lnSpc>
                <a:spcPts val="6813"/>
              </a:lnSpc>
            </a:pPr>
            <a:r>
              <a:rPr lang="en-US" b="true" sz="4867">
                <a:solidFill>
                  <a:srgbClr val="F7F7F7"/>
                </a:solidFill>
                <a:latin typeface="Barlow Semi-Bold"/>
                <a:ea typeface="Barlow Semi-Bold"/>
                <a:cs typeface="Barlow Semi-Bold"/>
                <a:sym typeface="Barlow Semi-Bold"/>
              </a:rPr>
              <a:t>Data Preprocessing</a:t>
            </a:r>
          </a:p>
          <a:p>
            <a:pPr algn="l" marL="1050811" indent="-525405" lvl="1">
              <a:lnSpc>
                <a:spcPts val="6813"/>
              </a:lnSpc>
              <a:buFont typeface="Arial"/>
              <a:buChar char="•"/>
            </a:pPr>
            <a:r>
              <a:rPr lang="en-US" b="true" sz="4867">
                <a:solidFill>
                  <a:srgbClr val="F7F7F7"/>
                </a:solidFill>
                <a:latin typeface="Barlow Semi-Bold"/>
                <a:ea typeface="Barlow Semi-Bold"/>
                <a:cs typeface="Barlow Semi-Bold"/>
                <a:sym typeface="Barlow Semi-Bold"/>
              </a:rPr>
              <a:t>Data cleaning</a:t>
            </a:r>
          </a:p>
          <a:p>
            <a:pPr algn="l" marL="1050811" indent="-525405" lvl="1">
              <a:lnSpc>
                <a:spcPts val="6813"/>
              </a:lnSpc>
              <a:buFont typeface="Arial"/>
              <a:buChar char="•"/>
            </a:pPr>
            <a:r>
              <a:rPr lang="en-US" b="true" sz="4867">
                <a:solidFill>
                  <a:srgbClr val="F7F7F7"/>
                </a:solidFill>
                <a:latin typeface="Barlow Semi-Bold"/>
                <a:ea typeface="Barlow Semi-Bold"/>
                <a:cs typeface="Barlow Semi-Bold"/>
                <a:sym typeface="Barlow Semi-Bold"/>
              </a:rPr>
              <a:t>Text chunking</a:t>
            </a:r>
          </a:p>
          <a:p>
            <a:pPr algn="l" marL="1050811" indent="-525405" lvl="1">
              <a:lnSpc>
                <a:spcPts val="6813"/>
              </a:lnSpc>
              <a:buFont typeface="Arial"/>
              <a:buChar char="•"/>
            </a:pPr>
            <a:r>
              <a:rPr lang="en-US" b="true" sz="4867">
                <a:solidFill>
                  <a:srgbClr val="F7F7F7"/>
                </a:solidFill>
                <a:latin typeface="Barlow Semi-Bold"/>
                <a:ea typeface="Barlow Semi-Bold"/>
                <a:cs typeface="Barlow Semi-Bold"/>
                <a:sym typeface="Barlow Semi-Bold"/>
              </a:rPr>
              <a:t>Embedding generation</a:t>
            </a:r>
          </a:p>
          <a:p>
            <a:pPr algn="l" marL="1050811" indent="-525405" lvl="1">
              <a:lnSpc>
                <a:spcPts val="6813"/>
              </a:lnSpc>
              <a:buFont typeface="Arial"/>
              <a:buChar char="•"/>
            </a:pPr>
            <a:r>
              <a:rPr lang="en-US" b="true" sz="4867">
                <a:solidFill>
                  <a:srgbClr val="F7F7F7"/>
                </a:solidFill>
                <a:latin typeface="Barlow Semi-Bold"/>
                <a:ea typeface="Barlow Semi-Bold"/>
                <a:cs typeface="Barlow Semi-Bold"/>
                <a:sym typeface="Barlow Semi-Bold"/>
              </a:rPr>
              <a:t>Vector database indexing</a:t>
            </a:r>
          </a:p>
          <a:p>
            <a:pPr algn="l">
              <a:lnSpc>
                <a:spcPts val="6673"/>
              </a:lnSpc>
            </a:pPr>
          </a:p>
        </p:txBody>
      </p:sp>
      <p:sp>
        <p:nvSpPr>
          <p:cNvPr name="TextBox 26" id="26"/>
          <p:cNvSpPr txBox="true"/>
          <p:nvPr/>
        </p:nvSpPr>
        <p:spPr>
          <a:xfrm rot="0">
            <a:off x="9144000" y="1732809"/>
            <a:ext cx="8108048" cy="7699095"/>
          </a:xfrm>
          <a:prstGeom prst="rect">
            <a:avLst/>
          </a:prstGeom>
        </p:spPr>
        <p:txBody>
          <a:bodyPr anchor="t" rtlCol="false" tIns="0" lIns="0" bIns="0" rIns="0">
            <a:spAutoFit/>
          </a:bodyPr>
          <a:lstStyle/>
          <a:p>
            <a:pPr algn="l">
              <a:lnSpc>
                <a:spcPts val="6140"/>
              </a:lnSpc>
            </a:pPr>
            <a:r>
              <a:rPr lang="en-US" sz="4386" spc="17" b="true">
                <a:solidFill>
                  <a:srgbClr val="F7F7F7"/>
                </a:solidFill>
                <a:latin typeface="Barlow Bold"/>
                <a:ea typeface="Barlow Bold"/>
                <a:cs typeface="Barlow Bold"/>
                <a:sym typeface="Barlow Bold"/>
              </a:rPr>
              <a:t>A</a:t>
            </a:r>
            <a:r>
              <a:rPr lang="en-US" b="true" sz="4386" spc="17">
                <a:solidFill>
                  <a:srgbClr val="F7F7F7"/>
                </a:solidFill>
                <a:latin typeface="Barlow Bold"/>
                <a:ea typeface="Barlow Bold"/>
                <a:cs typeface="Barlow Bold"/>
                <a:sym typeface="Barlow Bold"/>
              </a:rPr>
              <a:t>lgorithms / Models Used</a:t>
            </a:r>
          </a:p>
          <a:p>
            <a:pPr algn="l" marL="946942" indent="-473471" lvl="1">
              <a:lnSpc>
                <a:spcPts val="6140"/>
              </a:lnSpc>
              <a:buFont typeface="Arial"/>
              <a:buChar char="•"/>
            </a:pPr>
            <a:r>
              <a:rPr lang="en-US" b="true" sz="4386" spc="17">
                <a:solidFill>
                  <a:srgbClr val="F7F7F7"/>
                </a:solidFill>
                <a:latin typeface="Barlow Bold"/>
                <a:ea typeface="Barlow Bold"/>
                <a:cs typeface="Barlow Bold"/>
                <a:sym typeface="Barlow Bold"/>
              </a:rPr>
              <a:t>AR Foundation</a:t>
            </a:r>
          </a:p>
          <a:p>
            <a:pPr algn="l" marL="946942" indent="-473471" lvl="1">
              <a:lnSpc>
                <a:spcPts val="6140"/>
              </a:lnSpc>
              <a:buFont typeface="Arial"/>
              <a:buChar char="•"/>
            </a:pPr>
            <a:r>
              <a:rPr lang="en-US" b="true" sz="4386" spc="17">
                <a:solidFill>
                  <a:srgbClr val="F7F7F7"/>
                </a:solidFill>
                <a:latin typeface="Barlow Bold"/>
                <a:ea typeface="Barlow Bold"/>
                <a:cs typeface="Barlow Bold"/>
                <a:sym typeface="Barlow Bold"/>
              </a:rPr>
              <a:t>Gemini API (LLM)</a:t>
            </a:r>
          </a:p>
          <a:p>
            <a:pPr algn="l" marL="946942" indent="-473471" lvl="1">
              <a:lnSpc>
                <a:spcPts val="6140"/>
              </a:lnSpc>
              <a:buFont typeface="Arial"/>
              <a:buChar char="•"/>
            </a:pPr>
            <a:r>
              <a:rPr lang="en-US" b="true" sz="4386" spc="17">
                <a:solidFill>
                  <a:srgbClr val="F7F7F7"/>
                </a:solidFill>
                <a:latin typeface="Barlow Bold"/>
                <a:ea typeface="Barlow Bold"/>
                <a:cs typeface="Barlow Bold"/>
                <a:sym typeface="Barlow Bold"/>
              </a:rPr>
              <a:t>(RAG)</a:t>
            </a:r>
          </a:p>
          <a:p>
            <a:pPr algn="l" marL="946942" indent="-473471" lvl="1">
              <a:lnSpc>
                <a:spcPts val="6140"/>
              </a:lnSpc>
              <a:buFont typeface="Arial"/>
              <a:buChar char="•"/>
            </a:pPr>
            <a:r>
              <a:rPr lang="en-US" b="true" sz="4386" spc="17">
                <a:solidFill>
                  <a:srgbClr val="F7F7F7"/>
                </a:solidFill>
                <a:latin typeface="Barlow Bold"/>
                <a:ea typeface="Barlow Bold"/>
                <a:cs typeface="Barlow Bold"/>
                <a:sym typeface="Barlow Bold"/>
              </a:rPr>
              <a:t>Sentence Transformers</a:t>
            </a:r>
          </a:p>
          <a:p>
            <a:pPr algn="l" marL="946942" indent="-473471" lvl="1">
              <a:lnSpc>
                <a:spcPts val="6140"/>
              </a:lnSpc>
              <a:buFont typeface="Arial"/>
              <a:buChar char="•"/>
            </a:pPr>
            <a:r>
              <a:rPr lang="en-US" b="true" sz="4386" spc="17">
                <a:solidFill>
                  <a:srgbClr val="F7F7F7"/>
                </a:solidFill>
                <a:latin typeface="Barlow Bold"/>
                <a:ea typeface="Barlow Bold"/>
                <a:cs typeface="Barlow Bold"/>
                <a:sym typeface="Barlow Bold"/>
              </a:rPr>
              <a:t>ChromaDB Vector Search</a:t>
            </a:r>
          </a:p>
          <a:p>
            <a:pPr algn="l" marL="946942" indent="-473471" lvl="1">
              <a:lnSpc>
                <a:spcPts val="6140"/>
              </a:lnSpc>
              <a:buFont typeface="Arial"/>
              <a:buChar char="•"/>
            </a:pPr>
            <a:r>
              <a:rPr lang="en-US" b="true" sz="4386" spc="17">
                <a:solidFill>
                  <a:srgbClr val="F7F7F7"/>
                </a:solidFill>
                <a:latin typeface="Barlow Bold"/>
                <a:ea typeface="Barlow Bold"/>
                <a:cs typeface="Barlow Bold"/>
                <a:sym typeface="Barlow Bold"/>
              </a:rPr>
              <a:t>Build knowledge base</a:t>
            </a:r>
          </a:p>
          <a:p>
            <a:pPr algn="l" marL="946942" indent="-473471" lvl="1">
              <a:lnSpc>
                <a:spcPts val="6140"/>
              </a:lnSpc>
              <a:buFont typeface="Arial"/>
              <a:buChar char="•"/>
            </a:pPr>
            <a:r>
              <a:rPr lang="en-US" b="true" sz="4386" spc="17">
                <a:solidFill>
                  <a:srgbClr val="F7F7F7"/>
                </a:solidFill>
                <a:latin typeface="Barlow Bold"/>
                <a:ea typeface="Barlow Bold"/>
                <a:cs typeface="Barlow Bold"/>
                <a:sym typeface="Barlow Bold"/>
              </a:rPr>
              <a:t>Generate embeddings</a:t>
            </a:r>
          </a:p>
          <a:p>
            <a:pPr algn="l" marL="946942" indent="-473471" lvl="1">
              <a:lnSpc>
                <a:spcPts val="6140"/>
              </a:lnSpc>
              <a:buFont typeface="Arial"/>
              <a:buChar char="•"/>
            </a:pPr>
            <a:r>
              <a:rPr lang="en-US" b="true" sz="4386" spc="17">
                <a:solidFill>
                  <a:srgbClr val="F7F7F7"/>
                </a:solidFill>
                <a:latin typeface="Barlow Bold"/>
                <a:ea typeface="Barlow Bold"/>
                <a:cs typeface="Barlow Bold"/>
                <a:sym typeface="Barlow Bold"/>
              </a:rPr>
              <a:t>Retrieve relevant documents</a:t>
            </a:r>
          </a:p>
          <a:p>
            <a:pPr algn="l">
              <a:lnSpc>
                <a:spcPts val="6140"/>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365B6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963469"/>
          </a:xfrm>
          <a:custGeom>
            <a:avLst/>
            <a:gdLst/>
            <a:ahLst/>
            <a:cxnLst/>
            <a:rect r="r" b="b" t="t" l="l"/>
            <a:pathLst>
              <a:path h="10963469" w="18288000">
                <a:moveTo>
                  <a:pt x="0" y="0"/>
                </a:moveTo>
                <a:lnTo>
                  <a:pt x="18288000" y="0"/>
                </a:lnTo>
                <a:lnTo>
                  <a:pt x="18288000" y="10963469"/>
                </a:lnTo>
                <a:lnTo>
                  <a:pt x="0" y="10963469"/>
                </a:lnTo>
                <a:lnTo>
                  <a:pt x="0" y="0"/>
                </a:lnTo>
                <a:close/>
              </a:path>
            </a:pathLst>
          </a:custGeom>
          <a:blipFill>
            <a:blip r:embed="rId2"/>
            <a:stretch>
              <a:fillRect l="0" t="-2375" r="0" b="-8829"/>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grpSp>
        <p:nvGrpSpPr>
          <p:cNvPr name="Group 3" id="3"/>
          <p:cNvGrpSpPr/>
          <p:nvPr/>
        </p:nvGrpSpPr>
        <p:grpSpPr>
          <a:xfrm rot="-9278497">
            <a:off x="13587780" y="5089383"/>
            <a:ext cx="9966661" cy="99666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5" id="5"/>
            <p:cNvSpPr txBox="true"/>
            <p:nvPr/>
          </p:nvSpPr>
          <p:spPr>
            <a:xfrm>
              <a:off x="76200" y="809625"/>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15438586" y="6668025"/>
            <a:ext cx="6254675" cy="625467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15605106" y="1645646"/>
            <a:ext cx="228733" cy="22873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11" id="11"/>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grpSp>
        <p:nvGrpSpPr>
          <p:cNvPr name="Group 12" id="12"/>
          <p:cNvGrpSpPr/>
          <p:nvPr/>
        </p:nvGrpSpPr>
        <p:grpSpPr>
          <a:xfrm rot="0">
            <a:off x="15905555" y="1645646"/>
            <a:ext cx="228733" cy="22873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14" id="14"/>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grpSp>
        <p:nvGrpSpPr>
          <p:cNvPr name="Group 15" id="15"/>
          <p:cNvGrpSpPr/>
          <p:nvPr/>
        </p:nvGrpSpPr>
        <p:grpSpPr>
          <a:xfrm rot="-9278497">
            <a:off x="-5803234" y="-4205483"/>
            <a:ext cx="9966661" cy="996666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17" id="17"/>
            <p:cNvSpPr txBox="true"/>
            <p:nvPr/>
          </p:nvSpPr>
          <p:spPr>
            <a:xfrm>
              <a:off x="76200" y="809625"/>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18" id="18"/>
          <p:cNvGrpSpPr/>
          <p:nvPr/>
        </p:nvGrpSpPr>
        <p:grpSpPr>
          <a:xfrm rot="-9278497">
            <a:off x="-2997112" y="-1545956"/>
            <a:ext cx="5213104" cy="521310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20" id="20"/>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21" id="21"/>
          <p:cNvGrpSpPr/>
          <p:nvPr/>
        </p:nvGrpSpPr>
        <p:grpSpPr>
          <a:xfrm rot="0">
            <a:off x="16206003" y="1645646"/>
            <a:ext cx="228733" cy="22873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23" id="23"/>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sp>
        <p:nvSpPr>
          <p:cNvPr name="TextBox 24" id="24"/>
          <p:cNvSpPr txBox="true"/>
          <p:nvPr/>
        </p:nvSpPr>
        <p:spPr>
          <a:xfrm rot="0">
            <a:off x="4902791" y="523508"/>
            <a:ext cx="7697755" cy="969402"/>
          </a:xfrm>
          <a:prstGeom prst="rect">
            <a:avLst/>
          </a:prstGeom>
        </p:spPr>
        <p:txBody>
          <a:bodyPr anchor="t" rtlCol="false" tIns="0" lIns="0" bIns="0" rIns="0">
            <a:spAutoFit/>
          </a:bodyPr>
          <a:lstStyle/>
          <a:p>
            <a:pPr algn="ctr">
              <a:lnSpc>
                <a:spcPts val="7993"/>
              </a:lnSpc>
              <a:spcBef>
                <a:spcPct val="0"/>
              </a:spcBef>
            </a:pPr>
            <a:r>
              <a:rPr lang="en-US" b="true" sz="5709">
                <a:solidFill>
                  <a:srgbClr val="F7F7F7"/>
                </a:solidFill>
                <a:latin typeface="Barlow Bold"/>
                <a:ea typeface="Barlow Bold"/>
                <a:cs typeface="Barlow Bold"/>
                <a:sym typeface="Barlow Bold"/>
              </a:rPr>
              <a:t>Proposed</a:t>
            </a:r>
            <a:r>
              <a:rPr lang="en-US" b="true" sz="5709">
                <a:solidFill>
                  <a:srgbClr val="F7F7F7"/>
                </a:solidFill>
                <a:latin typeface="Barlow Bold"/>
                <a:ea typeface="Barlow Bold"/>
                <a:cs typeface="Barlow Bold"/>
                <a:sym typeface="Barlow Bold"/>
              </a:rPr>
              <a:t> Methodology</a:t>
            </a:r>
          </a:p>
        </p:txBody>
      </p:sp>
      <p:sp>
        <p:nvSpPr>
          <p:cNvPr name="TextBox 25" id="25"/>
          <p:cNvSpPr txBox="true"/>
          <p:nvPr/>
        </p:nvSpPr>
        <p:spPr>
          <a:xfrm rot="0">
            <a:off x="634282" y="673072"/>
            <a:ext cx="9604339" cy="10250370"/>
          </a:xfrm>
          <a:prstGeom prst="rect">
            <a:avLst/>
          </a:prstGeom>
        </p:spPr>
        <p:txBody>
          <a:bodyPr anchor="t" rtlCol="false" tIns="0" lIns="0" bIns="0" rIns="0">
            <a:spAutoFit/>
          </a:bodyPr>
          <a:lstStyle/>
          <a:p>
            <a:pPr algn="l">
              <a:lnSpc>
                <a:spcPts val="6813"/>
              </a:lnSpc>
            </a:pPr>
          </a:p>
          <a:p>
            <a:pPr algn="l">
              <a:lnSpc>
                <a:spcPts val="6813"/>
              </a:lnSpc>
            </a:pPr>
            <a:r>
              <a:rPr lang="en-US" b="true" sz="4867">
                <a:solidFill>
                  <a:srgbClr val="F7F7F7"/>
                </a:solidFill>
                <a:latin typeface="Barlow Semi-Bold"/>
                <a:ea typeface="Barlow Semi-Bold"/>
                <a:cs typeface="Barlow Semi-Bold"/>
                <a:sym typeface="Barlow Semi-Bold"/>
              </a:rPr>
              <a:t>Sof</a:t>
            </a:r>
            <a:r>
              <a:rPr lang="en-US" b="true" sz="4867">
                <a:solidFill>
                  <a:srgbClr val="F7F7F7"/>
                </a:solidFill>
                <a:latin typeface="Barlow Semi-Bold"/>
                <a:ea typeface="Barlow Semi-Bold"/>
                <a:cs typeface="Barlow Semi-Bold"/>
                <a:sym typeface="Barlow Semi-Bold"/>
              </a:rPr>
              <a:t>tware Requirements</a:t>
            </a:r>
          </a:p>
          <a:p>
            <a:pPr algn="l" marL="1050811" indent="-525405" lvl="1">
              <a:lnSpc>
                <a:spcPts val="6813"/>
              </a:lnSpc>
              <a:buFont typeface="Arial"/>
              <a:buChar char="•"/>
            </a:pPr>
            <a:r>
              <a:rPr lang="en-US" b="true" sz="4867">
                <a:solidFill>
                  <a:srgbClr val="F7F7F7"/>
                </a:solidFill>
                <a:latin typeface="Barlow Semi-Bold"/>
                <a:ea typeface="Barlow Semi-Bold"/>
                <a:cs typeface="Barlow Semi-Bold"/>
                <a:sym typeface="Barlow Semi-Bold"/>
              </a:rPr>
              <a:t>Unity 6</a:t>
            </a:r>
          </a:p>
          <a:p>
            <a:pPr algn="l" marL="1050811" indent="-525405" lvl="1">
              <a:lnSpc>
                <a:spcPts val="6813"/>
              </a:lnSpc>
              <a:buFont typeface="Arial"/>
              <a:buChar char="•"/>
            </a:pPr>
            <a:r>
              <a:rPr lang="en-US" b="true" sz="4867">
                <a:solidFill>
                  <a:srgbClr val="F7F7F7"/>
                </a:solidFill>
                <a:latin typeface="Barlow Semi-Bold"/>
                <a:ea typeface="Barlow Semi-Bold"/>
                <a:cs typeface="Barlow Semi-Bold"/>
                <a:sym typeface="Barlow Semi-Bold"/>
              </a:rPr>
              <a:t>FastAPI</a:t>
            </a:r>
          </a:p>
          <a:p>
            <a:pPr algn="l" marL="1050811" indent="-525405" lvl="1">
              <a:lnSpc>
                <a:spcPts val="6813"/>
              </a:lnSpc>
              <a:buFont typeface="Arial"/>
              <a:buChar char="•"/>
            </a:pPr>
            <a:r>
              <a:rPr lang="en-US" b="true" sz="4867">
                <a:solidFill>
                  <a:srgbClr val="F7F7F7"/>
                </a:solidFill>
                <a:latin typeface="Barlow Semi-Bold"/>
                <a:ea typeface="Barlow Semi-Bold"/>
                <a:cs typeface="Barlow Semi-Bold"/>
                <a:sym typeface="Barlow Semi-Bold"/>
              </a:rPr>
              <a:t>Py</a:t>
            </a:r>
            <a:r>
              <a:rPr lang="en-US" b="true" sz="4867">
                <a:solidFill>
                  <a:srgbClr val="F7F7F7"/>
                </a:solidFill>
                <a:latin typeface="Barlow Semi-Bold"/>
                <a:ea typeface="Barlow Semi-Bold"/>
                <a:cs typeface="Barlow Semi-Bold"/>
                <a:sym typeface="Barlow Semi-Bold"/>
              </a:rPr>
              <a:t>thon</a:t>
            </a:r>
          </a:p>
          <a:p>
            <a:pPr algn="l" marL="1050811" indent="-525405" lvl="1">
              <a:lnSpc>
                <a:spcPts val="6813"/>
              </a:lnSpc>
              <a:buFont typeface="Arial"/>
              <a:buChar char="•"/>
            </a:pPr>
            <a:r>
              <a:rPr lang="en-US" b="true" sz="4867">
                <a:solidFill>
                  <a:srgbClr val="F7F7F7"/>
                </a:solidFill>
                <a:latin typeface="Barlow Semi-Bold"/>
                <a:ea typeface="Barlow Semi-Bold"/>
                <a:cs typeface="Barlow Semi-Bold"/>
                <a:sym typeface="Barlow Semi-Bold"/>
              </a:rPr>
              <a:t>MongoDB Atlas</a:t>
            </a:r>
          </a:p>
          <a:p>
            <a:pPr algn="l" marL="1050811" indent="-525405" lvl="1">
              <a:lnSpc>
                <a:spcPts val="6813"/>
              </a:lnSpc>
              <a:buFont typeface="Arial"/>
              <a:buChar char="•"/>
            </a:pPr>
            <a:r>
              <a:rPr lang="en-US" b="true" sz="4867">
                <a:solidFill>
                  <a:srgbClr val="F7F7F7"/>
                </a:solidFill>
                <a:latin typeface="Barlow Semi-Bold"/>
                <a:ea typeface="Barlow Semi-Bold"/>
                <a:cs typeface="Barlow Semi-Bold"/>
                <a:sym typeface="Barlow Semi-Bold"/>
              </a:rPr>
              <a:t>Chro</a:t>
            </a:r>
            <a:r>
              <a:rPr lang="en-US" b="true" sz="4867">
                <a:solidFill>
                  <a:srgbClr val="F7F7F7"/>
                </a:solidFill>
                <a:latin typeface="Barlow Semi-Bold"/>
                <a:ea typeface="Barlow Semi-Bold"/>
                <a:cs typeface="Barlow Semi-Bold"/>
                <a:sym typeface="Barlow Semi-Bold"/>
              </a:rPr>
              <a:t>maDB</a:t>
            </a:r>
          </a:p>
          <a:p>
            <a:pPr algn="l" marL="1050811" indent="-525405" lvl="1">
              <a:lnSpc>
                <a:spcPts val="6813"/>
              </a:lnSpc>
              <a:buFont typeface="Arial"/>
              <a:buChar char="•"/>
            </a:pPr>
            <a:r>
              <a:rPr lang="en-US" b="true" sz="4867">
                <a:solidFill>
                  <a:srgbClr val="F7F7F7"/>
                </a:solidFill>
                <a:latin typeface="Barlow Semi-Bold"/>
                <a:ea typeface="Barlow Semi-Bold"/>
                <a:cs typeface="Barlow Semi-Bold"/>
                <a:sym typeface="Barlow Semi-Bold"/>
              </a:rPr>
              <a:t>VS Code</a:t>
            </a:r>
          </a:p>
          <a:p>
            <a:pPr algn="l">
              <a:lnSpc>
                <a:spcPts val="6813"/>
              </a:lnSpc>
            </a:pPr>
            <a:r>
              <a:rPr lang="en-US" b="true" sz="4867">
                <a:solidFill>
                  <a:srgbClr val="F7F7F7"/>
                </a:solidFill>
                <a:latin typeface="Barlow Semi-Bold"/>
                <a:ea typeface="Barlow Semi-Bold"/>
                <a:cs typeface="Barlow Semi-Bold"/>
                <a:sym typeface="Barlow Semi-Bold"/>
              </a:rPr>
              <a:t>Hardware Requirements</a:t>
            </a:r>
          </a:p>
          <a:p>
            <a:pPr algn="l" marL="1050811" indent="-525405" lvl="1">
              <a:lnSpc>
                <a:spcPts val="6813"/>
              </a:lnSpc>
              <a:buFont typeface="Arial"/>
              <a:buChar char="•"/>
            </a:pPr>
            <a:r>
              <a:rPr lang="en-US" b="true" sz="4867">
                <a:solidFill>
                  <a:srgbClr val="F7F7F7"/>
                </a:solidFill>
                <a:latin typeface="Barlow Semi-Bold"/>
                <a:ea typeface="Barlow Semi-Bold"/>
                <a:cs typeface="Barlow Semi-Bold"/>
                <a:sym typeface="Barlow Semi-Bold"/>
              </a:rPr>
              <a:t>ARCore-supported smartphone</a:t>
            </a:r>
          </a:p>
          <a:p>
            <a:pPr algn="l" marL="1050811" indent="-525405" lvl="1">
              <a:lnSpc>
                <a:spcPts val="6813"/>
              </a:lnSpc>
              <a:buFont typeface="Arial"/>
              <a:buChar char="•"/>
            </a:pPr>
            <a:r>
              <a:rPr lang="en-US" b="true" sz="4867">
                <a:solidFill>
                  <a:srgbClr val="F7F7F7"/>
                </a:solidFill>
                <a:latin typeface="Barlow Semi-Bold"/>
                <a:ea typeface="Barlow Semi-Bold"/>
                <a:cs typeface="Barlow Semi-Bold"/>
                <a:sym typeface="Barlow Semi-Bold"/>
              </a:rPr>
              <a:t>Lap</a:t>
            </a:r>
            <a:r>
              <a:rPr lang="en-US" b="true" sz="4867">
                <a:solidFill>
                  <a:srgbClr val="F7F7F7"/>
                </a:solidFill>
                <a:latin typeface="Barlow Semi-Bold"/>
                <a:ea typeface="Barlow Semi-Bold"/>
                <a:cs typeface="Barlow Semi-Bold"/>
                <a:sym typeface="Barlow Semi-Bold"/>
              </a:rPr>
              <a:t>top (8 GB+ RAM)</a:t>
            </a:r>
          </a:p>
          <a:p>
            <a:pPr algn="l">
              <a:lnSpc>
                <a:spcPts val="6673"/>
              </a:lnSpc>
            </a:pPr>
          </a:p>
        </p:txBody>
      </p:sp>
      <p:sp>
        <p:nvSpPr>
          <p:cNvPr name="TextBox 26" id="26"/>
          <p:cNvSpPr txBox="true"/>
          <p:nvPr/>
        </p:nvSpPr>
        <p:spPr>
          <a:xfrm rot="0">
            <a:off x="9852397" y="1664763"/>
            <a:ext cx="5867076" cy="4612995"/>
          </a:xfrm>
          <a:prstGeom prst="rect">
            <a:avLst/>
          </a:prstGeom>
        </p:spPr>
        <p:txBody>
          <a:bodyPr anchor="t" rtlCol="false" tIns="0" lIns="0" bIns="0" rIns="0">
            <a:spAutoFit/>
          </a:bodyPr>
          <a:lstStyle/>
          <a:p>
            <a:pPr algn="l">
              <a:lnSpc>
                <a:spcPts val="6140"/>
              </a:lnSpc>
            </a:pPr>
            <a:r>
              <a:rPr lang="en-US" sz="4386" spc="17" b="true">
                <a:solidFill>
                  <a:srgbClr val="F7F7F7"/>
                </a:solidFill>
                <a:latin typeface="Barlow Bold"/>
                <a:ea typeface="Barlow Bold"/>
                <a:cs typeface="Barlow Bold"/>
                <a:sym typeface="Barlow Bold"/>
              </a:rPr>
              <a:t>Eva</a:t>
            </a:r>
            <a:r>
              <a:rPr lang="en-US" b="true" sz="4386" spc="17">
                <a:solidFill>
                  <a:srgbClr val="F7F7F7"/>
                </a:solidFill>
                <a:latin typeface="Barlow Bold"/>
                <a:ea typeface="Barlow Bold"/>
                <a:cs typeface="Barlow Bold"/>
                <a:sym typeface="Barlow Bold"/>
              </a:rPr>
              <a:t>luation Metrics</a:t>
            </a:r>
          </a:p>
          <a:p>
            <a:pPr algn="l" marL="946942" indent="-473471" lvl="1">
              <a:lnSpc>
                <a:spcPts val="6140"/>
              </a:lnSpc>
              <a:buFont typeface="Arial"/>
              <a:buChar char="•"/>
            </a:pPr>
            <a:r>
              <a:rPr lang="en-US" b="true" sz="4386" spc="17">
                <a:solidFill>
                  <a:srgbClr val="F7F7F7"/>
                </a:solidFill>
                <a:latin typeface="Barlow Bold"/>
                <a:ea typeface="Barlow Bold"/>
                <a:cs typeface="Barlow Bold"/>
                <a:sym typeface="Barlow Bold"/>
              </a:rPr>
              <a:t>Response Accuracy</a:t>
            </a:r>
          </a:p>
          <a:p>
            <a:pPr algn="l" marL="946942" indent="-473471" lvl="1">
              <a:lnSpc>
                <a:spcPts val="6140"/>
              </a:lnSpc>
              <a:buFont typeface="Arial"/>
              <a:buChar char="•"/>
            </a:pPr>
            <a:r>
              <a:rPr lang="en-US" b="true" sz="4386" spc="17">
                <a:solidFill>
                  <a:srgbClr val="F7F7F7"/>
                </a:solidFill>
                <a:latin typeface="Barlow Bold"/>
                <a:ea typeface="Barlow Bold"/>
                <a:cs typeface="Barlow Bold"/>
                <a:sym typeface="Barlow Bold"/>
              </a:rPr>
              <a:t>R</a:t>
            </a:r>
            <a:r>
              <a:rPr lang="en-US" b="true" sz="4386" spc="17">
                <a:solidFill>
                  <a:srgbClr val="F7F7F7"/>
                </a:solidFill>
                <a:latin typeface="Barlow Bold"/>
                <a:ea typeface="Barlow Bold"/>
                <a:cs typeface="Barlow Bold"/>
                <a:sym typeface="Barlow Bold"/>
              </a:rPr>
              <a:t>esponse Time</a:t>
            </a:r>
          </a:p>
          <a:p>
            <a:pPr algn="l" marL="946942" indent="-473471" lvl="1">
              <a:lnSpc>
                <a:spcPts val="6140"/>
              </a:lnSpc>
              <a:buFont typeface="Arial"/>
              <a:buChar char="•"/>
            </a:pPr>
            <a:r>
              <a:rPr lang="en-US" b="true" sz="4386" spc="17">
                <a:solidFill>
                  <a:srgbClr val="F7F7F7"/>
                </a:solidFill>
                <a:latin typeface="Barlow Bold"/>
                <a:ea typeface="Barlow Bold"/>
                <a:cs typeface="Barlow Bold"/>
                <a:sym typeface="Barlow Bold"/>
              </a:rPr>
              <a:t>Retrieval Precision</a:t>
            </a:r>
          </a:p>
          <a:p>
            <a:pPr algn="l" marL="946942" indent="-473471" lvl="1">
              <a:lnSpc>
                <a:spcPts val="6140"/>
              </a:lnSpc>
              <a:buFont typeface="Arial"/>
              <a:buChar char="•"/>
            </a:pPr>
            <a:r>
              <a:rPr lang="en-US" b="true" sz="4386" spc="17">
                <a:solidFill>
                  <a:srgbClr val="F7F7F7"/>
                </a:solidFill>
                <a:latin typeface="Barlow Bold"/>
                <a:ea typeface="Barlow Bold"/>
                <a:cs typeface="Barlow Bold"/>
                <a:sym typeface="Barlow Bold"/>
              </a:rPr>
              <a:t>User Satisfaction</a:t>
            </a:r>
          </a:p>
          <a:p>
            <a:pPr algn="l">
              <a:lnSpc>
                <a:spcPts val="6140"/>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365B6D"/>
        </a:solidFill>
      </p:bgPr>
    </p:bg>
    <p:spTree>
      <p:nvGrpSpPr>
        <p:cNvPr id="1" name=""/>
        <p:cNvGrpSpPr/>
        <p:nvPr/>
      </p:nvGrpSpPr>
      <p:grpSpPr>
        <a:xfrm>
          <a:off x="0" y="0"/>
          <a:ext cx="0" cy="0"/>
          <a:chOff x="0" y="0"/>
          <a:chExt cx="0" cy="0"/>
        </a:xfrm>
      </p:grpSpPr>
      <p:sp>
        <p:nvSpPr>
          <p:cNvPr name="Freeform 2" id="2"/>
          <p:cNvSpPr/>
          <p:nvPr/>
        </p:nvSpPr>
        <p:spPr>
          <a:xfrm flipH="false" flipV="false" rot="0">
            <a:off x="0" y="886408"/>
            <a:ext cx="18288000" cy="8126730"/>
          </a:xfrm>
          <a:custGeom>
            <a:avLst/>
            <a:gdLst/>
            <a:ahLst/>
            <a:cxnLst/>
            <a:rect r="r" b="b" t="t" l="l"/>
            <a:pathLst>
              <a:path h="8126730" w="18288000">
                <a:moveTo>
                  <a:pt x="0" y="0"/>
                </a:moveTo>
                <a:lnTo>
                  <a:pt x="18288000" y="0"/>
                </a:lnTo>
                <a:lnTo>
                  <a:pt x="18288000" y="8126730"/>
                </a:lnTo>
                <a:lnTo>
                  <a:pt x="0" y="8126730"/>
                </a:lnTo>
                <a:lnTo>
                  <a:pt x="0" y="0"/>
                </a:lnTo>
                <a:close/>
              </a:path>
            </a:pathLst>
          </a:custGeom>
          <a:blipFill>
            <a:blip r:embed="rId2"/>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grpSp>
        <p:nvGrpSpPr>
          <p:cNvPr name="Group 3" id="3"/>
          <p:cNvGrpSpPr/>
          <p:nvPr/>
        </p:nvGrpSpPr>
        <p:grpSpPr>
          <a:xfrm rot="-9278497">
            <a:off x="13587780" y="5089383"/>
            <a:ext cx="9966661" cy="99666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5" id="5"/>
            <p:cNvSpPr txBox="true"/>
            <p:nvPr/>
          </p:nvSpPr>
          <p:spPr>
            <a:xfrm>
              <a:off x="76200" y="809625"/>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15438586" y="6668025"/>
            <a:ext cx="6254675" cy="625467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9278497">
            <a:off x="-5803234" y="-4205483"/>
            <a:ext cx="9966661" cy="996666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11" id="11"/>
            <p:cNvSpPr txBox="true"/>
            <p:nvPr/>
          </p:nvSpPr>
          <p:spPr>
            <a:xfrm>
              <a:off x="76200" y="809625"/>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12" id="12"/>
          <p:cNvGrpSpPr/>
          <p:nvPr/>
        </p:nvGrpSpPr>
        <p:grpSpPr>
          <a:xfrm rot="-9278497">
            <a:off x="-2997112" y="-1545956"/>
            <a:ext cx="5213104" cy="5213104"/>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14" id="14"/>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15" id="15"/>
          <p:cNvSpPr txBox="true"/>
          <p:nvPr/>
        </p:nvSpPr>
        <p:spPr>
          <a:xfrm rot="0">
            <a:off x="612481" y="2698753"/>
            <a:ext cx="11527349" cy="5446198"/>
          </a:xfrm>
          <a:prstGeom prst="rect">
            <a:avLst/>
          </a:prstGeom>
        </p:spPr>
        <p:txBody>
          <a:bodyPr anchor="t" rtlCol="false" tIns="0" lIns="0" bIns="0" rIns="0">
            <a:spAutoFit/>
          </a:bodyPr>
          <a:lstStyle/>
          <a:p>
            <a:pPr algn="l">
              <a:lnSpc>
                <a:spcPts val="6187"/>
              </a:lnSpc>
            </a:pPr>
          </a:p>
          <a:p>
            <a:pPr algn="l" marL="954236" indent="-477118" lvl="1">
              <a:lnSpc>
                <a:spcPts val="6187"/>
              </a:lnSpc>
              <a:buFont typeface="Arial"/>
              <a:buChar char="•"/>
            </a:pPr>
            <a:r>
              <a:rPr lang="en-US" b="true" sz="4419">
                <a:solidFill>
                  <a:srgbClr val="F7F7F7"/>
                </a:solidFill>
                <a:latin typeface="Barlow Semi-Bold"/>
                <a:ea typeface="Barlow Semi-Bold"/>
                <a:cs typeface="Barlow Semi-Bold"/>
                <a:sym typeface="Barlow Semi-Bold"/>
              </a:rPr>
              <a:t>Interactive smartphone-based AR museum</a:t>
            </a:r>
          </a:p>
          <a:p>
            <a:pPr algn="l" marL="954236" indent="-477118" lvl="1">
              <a:lnSpc>
                <a:spcPts val="6187"/>
              </a:lnSpc>
              <a:buFont typeface="Arial"/>
              <a:buChar char="•"/>
            </a:pPr>
            <a:r>
              <a:rPr lang="en-US" b="true" sz="4419">
                <a:solidFill>
                  <a:srgbClr val="F7F7F7"/>
                </a:solidFill>
                <a:latin typeface="Barlow Semi-Bold"/>
                <a:ea typeface="Barlow Semi-Bold"/>
                <a:cs typeface="Barlow Semi-Bold"/>
                <a:sym typeface="Barlow Semi-Bold"/>
              </a:rPr>
              <a:t>Accurate AI-generated explanations</a:t>
            </a:r>
          </a:p>
          <a:p>
            <a:pPr algn="l" marL="954236" indent="-477118" lvl="1">
              <a:lnSpc>
                <a:spcPts val="6187"/>
              </a:lnSpc>
              <a:buFont typeface="Arial"/>
              <a:buChar char="•"/>
            </a:pPr>
            <a:r>
              <a:rPr lang="en-US" b="true" sz="4419">
                <a:solidFill>
                  <a:srgbClr val="F7F7F7"/>
                </a:solidFill>
                <a:latin typeface="Barlow Semi-Bold"/>
                <a:ea typeface="Barlow Semi-Bold"/>
                <a:cs typeface="Barlow Semi-Bold"/>
                <a:sym typeface="Barlow Semi-Bold"/>
              </a:rPr>
              <a:t>Personalized artifact recommendations</a:t>
            </a:r>
          </a:p>
          <a:p>
            <a:pPr algn="l" marL="954236" indent="-477118" lvl="1">
              <a:lnSpc>
                <a:spcPts val="6187"/>
              </a:lnSpc>
              <a:buFont typeface="Arial"/>
              <a:buChar char="•"/>
            </a:pPr>
            <a:r>
              <a:rPr lang="en-US" b="true" sz="4419">
                <a:solidFill>
                  <a:srgbClr val="F7F7F7"/>
                </a:solidFill>
                <a:latin typeface="Barlow Semi-Bold"/>
                <a:ea typeface="Barlow Semi-Bold"/>
                <a:cs typeface="Barlow Semi-Bold"/>
                <a:sym typeface="Barlow Semi-Bold"/>
              </a:rPr>
              <a:t>Improved user engagement</a:t>
            </a:r>
          </a:p>
          <a:p>
            <a:pPr algn="l" marL="954236" indent="-477118" lvl="1">
              <a:lnSpc>
                <a:spcPts val="6187"/>
              </a:lnSpc>
              <a:buFont typeface="Arial"/>
              <a:buChar char="•"/>
            </a:pPr>
            <a:r>
              <a:rPr lang="en-US" b="true" sz="4419">
                <a:solidFill>
                  <a:srgbClr val="F7F7F7"/>
                </a:solidFill>
                <a:latin typeface="Barlow Semi-Bold"/>
                <a:ea typeface="Barlow Semi-Bold"/>
                <a:cs typeface="Barlow Semi-Bold"/>
                <a:sym typeface="Barlow Semi-Bold"/>
              </a:rPr>
              <a:t>Explainable and trustworthy AI responses</a:t>
            </a:r>
          </a:p>
          <a:p>
            <a:pPr algn="l" marL="954236" indent="-477118" lvl="1">
              <a:lnSpc>
                <a:spcPts val="6187"/>
              </a:lnSpc>
              <a:buFont typeface="Arial"/>
              <a:buChar char="•"/>
            </a:pPr>
            <a:r>
              <a:rPr lang="en-US" b="true" sz="4419">
                <a:solidFill>
                  <a:srgbClr val="F7F7F7"/>
                </a:solidFill>
                <a:latin typeface="Barlow Semi-Bold"/>
                <a:ea typeface="Barlow Semi-Bold"/>
                <a:cs typeface="Barlow Semi-Bold"/>
                <a:sym typeface="Barlow Semi-Bold"/>
              </a:rPr>
              <a:t>Better accessibility to museum education</a:t>
            </a:r>
          </a:p>
        </p:txBody>
      </p:sp>
      <p:sp>
        <p:nvSpPr>
          <p:cNvPr name="Freeform 16" id="16"/>
          <p:cNvSpPr/>
          <p:nvPr/>
        </p:nvSpPr>
        <p:spPr>
          <a:xfrm flipH="false" flipV="false" rot="0">
            <a:off x="13811599" y="0"/>
            <a:ext cx="4476401" cy="10263428"/>
          </a:xfrm>
          <a:custGeom>
            <a:avLst/>
            <a:gdLst/>
            <a:ahLst/>
            <a:cxnLst/>
            <a:rect r="r" b="b" t="t" l="l"/>
            <a:pathLst>
              <a:path h="10263428" w="4476401">
                <a:moveTo>
                  <a:pt x="0" y="0"/>
                </a:moveTo>
                <a:lnTo>
                  <a:pt x="4476401" y="0"/>
                </a:lnTo>
                <a:lnTo>
                  <a:pt x="4476401" y="10263428"/>
                </a:lnTo>
                <a:lnTo>
                  <a:pt x="0" y="10263428"/>
                </a:lnTo>
                <a:lnTo>
                  <a:pt x="0" y="0"/>
                </a:lnTo>
                <a:close/>
              </a:path>
            </a:pathLst>
          </a:custGeom>
          <a:blipFill>
            <a:blip r:embed="rId3"/>
            <a:stretch>
              <a:fillRect l="0" t="-6350" r="0" b="-6350"/>
            </a:stretch>
          </a:blipFill>
        </p:spPr>
      </p:sp>
      <p:sp>
        <p:nvSpPr>
          <p:cNvPr name="TextBox 17" id="17"/>
          <p:cNvSpPr txBox="true"/>
          <p:nvPr/>
        </p:nvSpPr>
        <p:spPr>
          <a:xfrm rot="0">
            <a:off x="4902791" y="523508"/>
            <a:ext cx="7697755" cy="969402"/>
          </a:xfrm>
          <a:prstGeom prst="rect">
            <a:avLst/>
          </a:prstGeom>
        </p:spPr>
        <p:txBody>
          <a:bodyPr anchor="t" rtlCol="false" tIns="0" lIns="0" bIns="0" rIns="0">
            <a:spAutoFit/>
          </a:bodyPr>
          <a:lstStyle/>
          <a:p>
            <a:pPr algn="ctr">
              <a:lnSpc>
                <a:spcPts val="7993"/>
              </a:lnSpc>
              <a:spcBef>
                <a:spcPct val="0"/>
              </a:spcBef>
            </a:pPr>
            <a:r>
              <a:rPr lang="en-US" b="true" sz="5709">
                <a:solidFill>
                  <a:srgbClr val="F7F7F7"/>
                </a:solidFill>
                <a:latin typeface="Barlow Bold"/>
                <a:ea typeface="Barlow Bold"/>
                <a:cs typeface="Barlow Bold"/>
                <a:sym typeface="Barlow Bold"/>
              </a:rPr>
              <a:t>Expected</a:t>
            </a:r>
            <a:r>
              <a:rPr lang="en-US" b="true" sz="5709">
                <a:solidFill>
                  <a:srgbClr val="F7F7F7"/>
                </a:solidFill>
                <a:latin typeface="Barlow Bold"/>
                <a:ea typeface="Barlow Bold"/>
                <a:cs typeface="Barlow Bold"/>
                <a:sym typeface="Barlow Bold"/>
              </a:rPr>
              <a:t> Outcomes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grpSp>
        <p:nvGrpSpPr>
          <p:cNvPr name="Group 3" id="3"/>
          <p:cNvGrpSpPr/>
          <p:nvPr/>
        </p:nvGrpSpPr>
        <p:grpSpPr>
          <a:xfrm rot="-9278497">
            <a:off x="13587780" y="5089383"/>
            <a:ext cx="9966661" cy="99666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5" id="5"/>
            <p:cNvSpPr txBox="true"/>
            <p:nvPr/>
          </p:nvSpPr>
          <p:spPr>
            <a:xfrm>
              <a:off x="76200" y="809625"/>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15438586" y="6668025"/>
            <a:ext cx="6254675" cy="625467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15605106" y="1645646"/>
            <a:ext cx="228733" cy="22873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11" id="11"/>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grpSp>
        <p:nvGrpSpPr>
          <p:cNvPr name="Group 12" id="12"/>
          <p:cNvGrpSpPr/>
          <p:nvPr/>
        </p:nvGrpSpPr>
        <p:grpSpPr>
          <a:xfrm rot="0">
            <a:off x="15905555" y="1645646"/>
            <a:ext cx="228733" cy="22873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14" id="14"/>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grpSp>
        <p:nvGrpSpPr>
          <p:cNvPr name="Group 15" id="15"/>
          <p:cNvGrpSpPr/>
          <p:nvPr/>
        </p:nvGrpSpPr>
        <p:grpSpPr>
          <a:xfrm rot="-9278497">
            <a:off x="-5803234" y="-4205483"/>
            <a:ext cx="9966661" cy="996666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17" id="17"/>
            <p:cNvSpPr txBox="true"/>
            <p:nvPr/>
          </p:nvSpPr>
          <p:spPr>
            <a:xfrm>
              <a:off x="76200" y="809625"/>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18" id="18"/>
          <p:cNvGrpSpPr/>
          <p:nvPr/>
        </p:nvGrpSpPr>
        <p:grpSpPr>
          <a:xfrm rot="-9278497">
            <a:off x="-2997112" y="-1545956"/>
            <a:ext cx="5213104" cy="521310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20" id="20"/>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21" id="21"/>
          <p:cNvGrpSpPr/>
          <p:nvPr/>
        </p:nvGrpSpPr>
        <p:grpSpPr>
          <a:xfrm rot="0">
            <a:off x="16206003" y="1645646"/>
            <a:ext cx="228733" cy="22873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23" id="23"/>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sp>
        <p:nvSpPr>
          <p:cNvPr name="Freeform 24" id="24"/>
          <p:cNvSpPr/>
          <p:nvPr/>
        </p:nvSpPr>
        <p:spPr>
          <a:xfrm flipH="false" flipV="false" rot="0">
            <a:off x="11680649" y="0"/>
            <a:ext cx="6885275" cy="10327912"/>
          </a:xfrm>
          <a:custGeom>
            <a:avLst/>
            <a:gdLst/>
            <a:ahLst/>
            <a:cxnLst/>
            <a:rect r="r" b="b" t="t" l="l"/>
            <a:pathLst>
              <a:path h="10327912" w="6885275">
                <a:moveTo>
                  <a:pt x="0" y="0"/>
                </a:moveTo>
                <a:lnTo>
                  <a:pt x="6885275" y="0"/>
                </a:lnTo>
                <a:lnTo>
                  <a:pt x="6885275" y="10327912"/>
                </a:lnTo>
                <a:lnTo>
                  <a:pt x="0" y="10327912"/>
                </a:lnTo>
                <a:lnTo>
                  <a:pt x="0" y="0"/>
                </a:lnTo>
                <a:close/>
              </a:path>
            </a:pathLst>
          </a:custGeom>
          <a:blipFill>
            <a:blip r:embed="rId3"/>
            <a:stretch>
              <a:fillRect l="0" t="0" r="0" b="0"/>
            </a:stretch>
          </a:blipFill>
        </p:spPr>
      </p:sp>
      <p:sp>
        <p:nvSpPr>
          <p:cNvPr name="TextBox 25" id="25"/>
          <p:cNvSpPr txBox="true"/>
          <p:nvPr/>
        </p:nvSpPr>
        <p:spPr>
          <a:xfrm rot="0">
            <a:off x="4902791" y="523508"/>
            <a:ext cx="7697755" cy="969402"/>
          </a:xfrm>
          <a:prstGeom prst="rect">
            <a:avLst/>
          </a:prstGeom>
        </p:spPr>
        <p:txBody>
          <a:bodyPr anchor="t" rtlCol="false" tIns="0" lIns="0" bIns="0" rIns="0">
            <a:spAutoFit/>
          </a:bodyPr>
          <a:lstStyle/>
          <a:p>
            <a:pPr algn="ctr">
              <a:lnSpc>
                <a:spcPts val="7993"/>
              </a:lnSpc>
              <a:spcBef>
                <a:spcPct val="0"/>
              </a:spcBef>
            </a:pPr>
            <a:r>
              <a:rPr lang="en-US" b="true" sz="5709">
                <a:solidFill>
                  <a:srgbClr val="F7F7F7"/>
                </a:solidFill>
                <a:latin typeface="Barlow Bold"/>
                <a:ea typeface="Barlow Bold"/>
                <a:cs typeface="Barlow Bold"/>
                <a:sym typeface="Barlow Bold"/>
              </a:rPr>
              <a:t> </a:t>
            </a:r>
            <a:r>
              <a:rPr lang="en-US" b="true" sz="5709">
                <a:solidFill>
                  <a:srgbClr val="F7F7F7"/>
                </a:solidFill>
                <a:latin typeface="Barlow Bold"/>
                <a:ea typeface="Barlow Bold"/>
                <a:cs typeface="Barlow Bold"/>
                <a:sym typeface="Barlow Bold"/>
              </a:rPr>
              <a:t>Work Com</a:t>
            </a:r>
            <a:r>
              <a:rPr lang="en-US" b="true" sz="5709">
                <a:solidFill>
                  <a:srgbClr val="F7F7F7"/>
                </a:solidFill>
                <a:latin typeface="Barlow Bold"/>
                <a:ea typeface="Barlow Bold"/>
                <a:cs typeface="Barlow Bold"/>
                <a:sym typeface="Barlow Bold"/>
              </a:rPr>
              <a:t>pleted</a:t>
            </a:r>
          </a:p>
        </p:txBody>
      </p:sp>
      <p:sp>
        <p:nvSpPr>
          <p:cNvPr name="TextBox 26" id="26"/>
          <p:cNvSpPr txBox="true"/>
          <p:nvPr/>
        </p:nvSpPr>
        <p:spPr>
          <a:xfrm rot="0">
            <a:off x="1152166" y="1779130"/>
            <a:ext cx="9330712" cy="7265488"/>
          </a:xfrm>
          <a:prstGeom prst="rect">
            <a:avLst/>
          </a:prstGeom>
        </p:spPr>
        <p:txBody>
          <a:bodyPr anchor="t" rtlCol="false" tIns="0" lIns="0" bIns="0" rIns="0">
            <a:spAutoFit/>
          </a:bodyPr>
          <a:lstStyle/>
          <a:p>
            <a:pPr algn="l">
              <a:lnSpc>
                <a:spcPts val="6415"/>
              </a:lnSpc>
            </a:pPr>
          </a:p>
          <a:p>
            <a:pPr algn="l" marL="989289" indent="-494644" lvl="1">
              <a:lnSpc>
                <a:spcPts val="6415"/>
              </a:lnSpc>
              <a:buFont typeface="Arial"/>
              <a:buChar char="•"/>
            </a:pPr>
            <a:r>
              <a:rPr lang="en-US" b="true" sz="4582">
                <a:solidFill>
                  <a:srgbClr val="F7F7F7"/>
                </a:solidFill>
                <a:latin typeface="Barlow Semi-Bold"/>
                <a:ea typeface="Barlow Semi-Bold"/>
                <a:cs typeface="Barlow Semi-Bold"/>
                <a:sym typeface="Barlow Semi-Bold"/>
              </a:rPr>
              <a:t>Topic finalized</a:t>
            </a:r>
          </a:p>
          <a:p>
            <a:pPr algn="l" marL="989289" indent="-494644" lvl="1">
              <a:lnSpc>
                <a:spcPts val="6415"/>
              </a:lnSpc>
              <a:buFont typeface="Arial"/>
              <a:buChar char="•"/>
            </a:pPr>
            <a:r>
              <a:rPr lang="en-US" b="true" sz="4582">
                <a:solidFill>
                  <a:srgbClr val="F7F7F7"/>
                </a:solidFill>
                <a:latin typeface="Barlow Semi-Bold"/>
                <a:ea typeface="Barlow Semi-Bold"/>
                <a:cs typeface="Barlow Semi-Bold"/>
                <a:sym typeface="Barlow Semi-Bold"/>
              </a:rPr>
              <a:t> Literature collected</a:t>
            </a:r>
          </a:p>
          <a:p>
            <a:pPr algn="l" marL="989289" indent="-494644" lvl="1">
              <a:lnSpc>
                <a:spcPts val="6415"/>
              </a:lnSpc>
              <a:buFont typeface="Arial"/>
              <a:buChar char="•"/>
            </a:pPr>
            <a:r>
              <a:rPr lang="en-US" b="true" sz="4582">
                <a:solidFill>
                  <a:srgbClr val="F7F7F7"/>
                </a:solidFill>
                <a:latin typeface="Barlow Semi-Bold"/>
                <a:ea typeface="Barlow Semi-Bold"/>
                <a:cs typeface="Barlow Semi-Bold"/>
                <a:sym typeface="Barlow Semi-Bold"/>
              </a:rPr>
              <a:t> Initial literature survey</a:t>
            </a:r>
          </a:p>
          <a:p>
            <a:pPr algn="l" marL="989289" indent="-494644" lvl="1">
              <a:lnSpc>
                <a:spcPts val="6415"/>
              </a:lnSpc>
              <a:buFont typeface="Arial"/>
              <a:buChar char="•"/>
            </a:pPr>
            <a:r>
              <a:rPr lang="en-US" b="true" sz="4582">
                <a:solidFill>
                  <a:srgbClr val="F7F7F7"/>
                </a:solidFill>
                <a:latin typeface="Barlow Semi-Bold"/>
                <a:ea typeface="Barlow Semi-Bold"/>
                <a:cs typeface="Barlow Semi-Bold"/>
                <a:sym typeface="Barlow Semi-Bold"/>
              </a:rPr>
              <a:t> Problem identified</a:t>
            </a:r>
          </a:p>
          <a:p>
            <a:pPr algn="l" marL="989289" indent="-494644" lvl="1">
              <a:lnSpc>
                <a:spcPts val="6415"/>
              </a:lnSpc>
              <a:buFont typeface="Arial"/>
              <a:buChar char="•"/>
            </a:pPr>
            <a:r>
              <a:rPr lang="en-US" b="true" sz="4582">
                <a:solidFill>
                  <a:srgbClr val="F7F7F7"/>
                </a:solidFill>
                <a:latin typeface="Barlow Semi-Bold"/>
                <a:ea typeface="Barlow Semi-Bold"/>
                <a:cs typeface="Barlow Semi-Bold"/>
                <a:sym typeface="Barlow Semi-Bold"/>
              </a:rPr>
              <a:t> Research gap identified</a:t>
            </a:r>
          </a:p>
          <a:p>
            <a:pPr algn="l" marL="989289" indent="-494644" lvl="1">
              <a:lnSpc>
                <a:spcPts val="6415"/>
              </a:lnSpc>
              <a:buFont typeface="Arial"/>
              <a:buChar char="•"/>
            </a:pPr>
            <a:r>
              <a:rPr lang="en-US" b="true" sz="4582">
                <a:solidFill>
                  <a:srgbClr val="F7F7F7"/>
                </a:solidFill>
                <a:latin typeface="Barlow Semi-Bold"/>
                <a:ea typeface="Barlow Semi-Bold"/>
                <a:cs typeface="Barlow Semi-Bold"/>
                <a:sym typeface="Barlow Semi-Bold"/>
              </a:rPr>
              <a:t> Technology stack selected</a:t>
            </a:r>
          </a:p>
          <a:p>
            <a:pPr algn="l" marL="989289" indent="-494644" lvl="1">
              <a:lnSpc>
                <a:spcPts val="6415"/>
              </a:lnSpc>
              <a:buFont typeface="Arial"/>
              <a:buChar char="•"/>
            </a:pPr>
            <a:r>
              <a:rPr lang="en-US" b="true" sz="4582">
                <a:solidFill>
                  <a:srgbClr val="F7F7F7"/>
                </a:solidFill>
                <a:latin typeface="Barlow Semi-Bold"/>
                <a:ea typeface="Barlow Semi-Bold"/>
                <a:cs typeface="Barlow Semi-Bold"/>
                <a:sym typeface="Barlow Semi-Bold"/>
              </a:rPr>
              <a:t> Initial architecture designed</a:t>
            </a:r>
          </a:p>
          <a:p>
            <a:pPr algn="l" marL="989289" indent="-494644" lvl="1">
              <a:lnSpc>
                <a:spcPts val="6415"/>
              </a:lnSpc>
              <a:buFont typeface="Arial"/>
              <a:buChar char="•"/>
            </a:pPr>
            <a:r>
              <a:rPr lang="en-US" b="true" sz="4582">
                <a:solidFill>
                  <a:srgbClr val="F7F7F7"/>
                </a:solidFill>
                <a:latin typeface="Barlow Semi-Bold"/>
                <a:ea typeface="Barlow Semi-Bold"/>
                <a:cs typeface="Barlow Semi-Bold"/>
                <a:sym typeface="Barlow Semi-Bold"/>
              </a:rPr>
              <a:t> Development roadmap prepared</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grpSp>
        <p:nvGrpSpPr>
          <p:cNvPr name="Group 3" id="3"/>
          <p:cNvGrpSpPr/>
          <p:nvPr/>
        </p:nvGrpSpPr>
        <p:grpSpPr>
          <a:xfrm rot="-9278497">
            <a:off x="13587780" y="5089383"/>
            <a:ext cx="9966661" cy="99666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5" id="5"/>
            <p:cNvSpPr txBox="true"/>
            <p:nvPr/>
          </p:nvSpPr>
          <p:spPr>
            <a:xfrm>
              <a:off x="76200" y="809625"/>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15438586" y="6668025"/>
            <a:ext cx="6254675" cy="625467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15605106" y="1645646"/>
            <a:ext cx="228733" cy="22873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11" id="11"/>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grpSp>
        <p:nvGrpSpPr>
          <p:cNvPr name="Group 12" id="12"/>
          <p:cNvGrpSpPr/>
          <p:nvPr/>
        </p:nvGrpSpPr>
        <p:grpSpPr>
          <a:xfrm rot="0">
            <a:off x="15905555" y="1645646"/>
            <a:ext cx="228733" cy="22873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14" id="14"/>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grpSp>
        <p:nvGrpSpPr>
          <p:cNvPr name="Group 15" id="15"/>
          <p:cNvGrpSpPr/>
          <p:nvPr/>
        </p:nvGrpSpPr>
        <p:grpSpPr>
          <a:xfrm rot="-9278497">
            <a:off x="-5803234" y="-4205483"/>
            <a:ext cx="9966661" cy="996666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17" id="17"/>
            <p:cNvSpPr txBox="true"/>
            <p:nvPr/>
          </p:nvSpPr>
          <p:spPr>
            <a:xfrm>
              <a:off x="76200" y="809625"/>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18" id="18"/>
          <p:cNvGrpSpPr/>
          <p:nvPr/>
        </p:nvGrpSpPr>
        <p:grpSpPr>
          <a:xfrm rot="-9278497">
            <a:off x="-2997112" y="-1545956"/>
            <a:ext cx="5213104" cy="521310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20" id="20"/>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21" id="21"/>
          <p:cNvGrpSpPr/>
          <p:nvPr/>
        </p:nvGrpSpPr>
        <p:grpSpPr>
          <a:xfrm rot="0">
            <a:off x="16206003" y="1645646"/>
            <a:ext cx="228733" cy="22873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23" id="23"/>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sp>
        <p:nvSpPr>
          <p:cNvPr name="Freeform 24" id="24"/>
          <p:cNvSpPr/>
          <p:nvPr/>
        </p:nvSpPr>
        <p:spPr>
          <a:xfrm flipH="false" flipV="false" rot="0">
            <a:off x="9757014" y="1028700"/>
            <a:ext cx="8447405" cy="9258300"/>
          </a:xfrm>
          <a:custGeom>
            <a:avLst/>
            <a:gdLst/>
            <a:ahLst/>
            <a:cxnLst/>
            <a:rect r="r" b="b" t="t" l="l"/>
            <a:pathLst>
              <a:path h="9258300" w="8447405">
                <a:moveTo>
                  <a:pt x="0" y="0"/>
                </a:moveTo>
                <a:lnTo>
                  <a:pt x="8447405" y="0"/>
                </a:lnTo>
                <a:lnTo>
                  <a:pt x="8447405" y="9258300"/>
                </a:lnTo>
                <a:lnTo>
                  <a:pt x="0" y="9258300"/>
                </a:lnTo>
                <a:lnTo>
                  <a:pt x="0" y="0"/>
                </a:lnTo>
                <a:close/>
              </a:path>
            </a:pathLst>
          </a:custGeom>
          <a:blipFill>
            <a:blip r:embed="rId3"/>
            <a:stretch>
              <a:fillRect l="0" t="0" r="0" b="0"/>
            </a:stretch>
          </a:blipFill>
        </p:spPr>
      </p:sp>
      <p:sp>
        <p:nvSpPr>
          <p:cNvPr name="TextBox 25" id="25"/>
          <p:cNvSpPr txBox="true"/>
          <p:nvPr/>
        </p:nvSpPr>
        <p:spPr>
          <a:xfrm rot="0">
            <a:off x="4902791" y="91195"/>
            <a:ext cx="7697755" cy="969402"/>
          </a:xfrm>
          <a:prstGeom prst="rect">
            <a:avLst/>
          </a:prstGeom>
        </p:spPr>
        <p:txBody>
          <a:bodyPr anchor="t" rtlCol="false" tIns="0" lIns="0" bIns="0" rIns="0">
            <a:spAutoFit/>
          </a:bodyPr>
          <a:lstStyle/>
          <a:p>
            <a:pPr algn="ctr">
              <a:lnSpc>
                <a:spcPts val="7993"/>
              </a:lnSpc>
              <a:spcBef>
                <a:spcPct val="0"/>
              </a:spcBef>
            </a:pPr>
            <a:r>
              <a:rPr lang="en-US" b="true" sz="5709">
                <a:solidFill>
                  <a:srgbClr val="F7F7F7"/>
                </a:solidFill>
                <a:latin typeface="Barlow Bold"/>
                <a:ea typeface="Barlow Bold"/>
                <a:cs typeface="Barlow Bold"/>
                <a:sym typeface="Barlow Bold"/>
              </a:rPr>
              <a:t>Future Work</a:t>
            </a:r>
          </a:p>
        </p:txBody>
      </p:sp>
      <p:sp>
        <p:nvSpPr>
          <p:cNvPr name="TextBox 26" id="26"/>
          <p:cNvSpPr txBox="true"/>
          <p:nvPr/>
        </p:nvSpPr>
        <p:spPr>
          <a:xfrm rot="0">
            <a:off x="-219559" y="1176215"/>
            <a:ext cx="9976572" cy="8254963"/>
          </a:xfrm>
          <a:prstGeom prst="rect">
            <a:avLst/>
          </a:prstGeom>
        </p:spPr>
        <p:txBody>
          <a:bodyPr anchor="t" rtlCol="false" tIns="0" lIns="0" bIns="0" rIns="0">
            <a:spAutoFit/>
          </a:bodyPr>
          <a:lstStyle/>
          <a:p>
            <a:pPr algn="l">
              <a:lnSpc>
                <a:spcPts val="5952"/>
              </a:lnSpc>
            </a:pPr>
          </a:p>
          <a:p>
            <a:pPr algn="l" marL="917893" indent="-458946" lvl="1">
              <a:lnSpc>
                <a:spcPts val="5952"/>
              </a:lnSpc>
              <a:buFont typeface="Arial"/>
              <a:buChar char="•"/>
            </a:pPr>
            <a:r>
              <a:rPr lang="en-US" b="true" sz="4251">
                <a:solidFill>
                  <a:srgbClr val="F7F7F7"/>
                </a:solidFill>
                <a:latin typeface="Barlow Semi-Bold"/>
                <a:ea typeface="Barlow Semi-Bold"/>
                <a:cs typeface="Barlow Semi-Bold"/>
                <a:sym typeface="Barlow Semi-Bold"/>
              </a:rPr>
              <a:t>Collect museum dataset</a:t>
            </a:r>
          </a:p>
          <a:p>
            <a:pPr algn="l" marL="917893" indent="-458946" lvl="1">
              <a:lnSpc>
                <a:spcPts val="5952"/>
              </a:lnSpc>
              <a:buFont typeface="Arial"/>
              <a:buChar char="•"/>
            </a:pPr>
            <a:r>
              <a:rPr lang="en-US" b="true" sz="4251">
                <a:solidFill>
                  <a:srgbClr val="F7F7F7"/>
                </a:solidFill>
                <a:latin typeface="Barlow Semi-Bold"/>
                <a:ea typeface="Barlow Semi-Bold"/>
                <a:cs typeface="Barlow Semi-Bold"/>
                <a:sym typeface="Barlow Semi-Bold"/>
              </a:rPr>
              <a:t>Develop Unity AR application</a:t>
            </a:r>
          </a:p>
          <a:p>
            <a:pPr algn="l" marL="917893" indent="-458946" lvl="1">
              <a:lnSpc>
                <a:spcPts val="5952"/>
              </a:lnSpc>
              <a:buFont typeface="Arial"/>
              <a:buChar char="•"/>
            </a:pPr>
            <a:r>
              <a:rPr lang="en-US" b="true" sz="4251">
                <a:solidFill>
                  <a:srgbClr val="F7F7F7"/>
                </a:solidFill>
                <a:latin typeface="Barlow Semi-Bold"/>
                <a:ea typeface="Barlow Semi-Bold"/>
                <a:cs typeface="Barlow Semi-Bold"/>
                <a:sym typeface="Barlow Semi-Bold"/>
              </a:rPr>
              <a:t>Build FastAPI backend</a:t>
            </a:r>
          </a:p>
          <a:p>
            <a:pPr algn="l" marL="917893" indent="-458946" lvl="1">
              <a:lnSpc>
                <a:spcPts val="5952"/>
              </a:lnSpc>
              <a:buFont typeface="Arial"/>
              <a:buChar char="•"/>
            </a:pPr>
            <a:r>
              <a:rPr lang="en-US" b="true" sz="4251">
                <a:solidFill>
                  <a:srgbClr val="F7F7F7"/>
                </a:solidFill>
                <a:latin typeface="Barlow Semi-Bold"/>
                <a:ea typeface="Barlow Semi-Bold"/>
                <a:cs typeface="Barlow Semi-Bold"/>
                <a:sym typeface="Barlow Semi-Bold"/>
              </a:rPr>
              <a:t>Implement RAG pipeline</a:t>
            </a:r>
          </a:p>
          <a:p>
            <a:pPr algn="l" marL="917893" indent="-458946" lvl="1">
              <a:lnSpc>
                <a:spcPts val="5952"/>
              </a:lnSpc>
              <a:buFont typeface="Arial"/>
              <a:buChar char="•"/>
            </a:pPr>
            <a:r>
              <a:rPr lang="en-US" b="true" sz="4251">
                <a:solidFill>
                  <a:srgbClr val="F7F7F7"/>
                </a:solidFill>
                <a:latin typeface="Barlow Semi-Bold"/>
                <a:ea typeface="Barlow Semi-Bold"/>
                <a:cs typeface="Barlow Semi-Bold"/>
                <a:sym typeface="Barlow Semi-Bold"/>
              </a:rPr>
              <a:t>Integrate AI curator</a:t>
            </a:r>
          </a:p>
          <a:p>
            <a:pPr algn="l" marL="917893" indent="-458946" lvl="1">
              <a:lnSpc>
                <a:spcPts val="5952"/>
              </a:lnSpc>
              <a:buFont typeface="Arial"/>
              <a:buChar char="•"/>
            </a:pPr>
            <a:r>
              <a:rPr lang="en-US" b="true" sz="4251">
                <a:solidFill>
                  <a:srgbClr val="F7F7F7"/>
                </a:solidFill>
                <a:latin typeface="Barlow Semi-Bold"/>
                <a:ea typeface="Barlow Semi-Bold"/>
                <a:cs typeface="Barlow Semi-Bold"/>
                <a:sym typeface="Barlow Semi-Bold"/>
              </a:rPr>
              <a:t>Add context-aware recommendations</a:t>
            </a:r>
          </a:p>
          <a:p>
            <a:pPr algn="l" marL="917893" indent="-458946" lvl="1">
              <a:lnSpc>
                <a:spcPts val="5952"/>
              </a:lnSpc>
              <a:buFont typeface="Arial"/>
              <a:buChar char="•"/>
            </a:pPr>
            <a:r>
              <a:rPr lang="en-US" b="true" sz="4251">
                <a:solidFill>
                  <a:srgbClr val="F7F7F7"/>
                </a:solidFill>
                <a:latin typeface="Barlow Semi-Bold"/>
                <a:ea typeface="Barlow Semi-Bold"/>
                <a:cs typeface="Barlow Semi-Bold"/>
                <a:sym typeface="Barlow Semi-Bold"/>
              </a:rPr>
              <a:t>Perform testing and evaluation</a:t>
            </a:r>
          </a:p>
          <a:p>
            <a:pPr algn="l" marL="917893" indent="-458946" lvl="1">
              <a:lnSpc>
                <a:spcPts val="5952"/>
              </a:lnSpc>
              <a:buFont typeface="Arial"/>
              <a:buChar char="•"/>
            </a:pPr>
            <a:r>
              <a:rPr lang="en-US" b="true" sz="4251">
                <a:solidFill>
                  <a:srgbClr val="F7F7F7"/>
                </a:solidFill>
                <a:latin typeface="Barlow Semi-Bold"/>
                <a:ea typeface="Barlow Semi-Bold"/>
                <a:cs typeface="Barlow Semi-Bold"/>
                <a:sym typeface="Barlow Semi-Bold"/>
              </a:rPr>
              <a:t>Deploy application</a:t>
            </a:r>
          </a:p>
          <a:p>
            <a:pPr algn="l" marL="917893" indent="-458946" lvl="1">
              <a:lnSpc>
                <a:spcPts val="5952"/>
              </a:lnSpc>
              <a:buFont typeface="Arial"/>
              <a:buChar char="•"/>
            </a:pPr>
            <a:r>
              <a:rPr lang="en-US" b="true" sz="4251">
                <a:solidFill>
                  <a:srgbClr val="F7F7F7"/>
                </a:solidFill>
                <a:latin typeface="Barlow Semi-Bold"/>
                <a:ea typeface="Barlow Semi-Bold"/>
                <a:cs typeface="Barlow Semi-Bold"/>
                <a:sym typeface="Barlow Semi-Bold"/>
              </a:rPr>
              <a:t>Prepare final documentation</a:t>
            </a:r>
          </a:p>
          <a:p>
            <a:pPr algn="l">
              <a:lnSpc>
                <a:spcPts val="5952"/>
              </a:lnSpc>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grpSp>
        <p:nvGrpSpPr>
          <p:cNvPr name="Group 3" id="3"/>
          <p:cNvGrpSpPr/>
          <p:nvPr/>
        </p:nvGrpSpPr>
        <p:grpSpPr>
          <a:xfrm rot="-9278497">
            <a:off x="13587780" y="5089383"/>
            <a:ext cx="9966661" cy="99666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5" id="5"/>
            <p:cNvSpPr txBox="true"/>
            <p:nvPr/>
          </p:nvSpPr>
          <p:spPr>
            <a:xfrm>
              <a:off x="76200" y="809625"/>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15438586" y="6668025"/>
            <a:ext cx="6254675" cy="625467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15605106" y="1645646"/>
            <a:ext cx="228733" cy="22873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11" id="11"/>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grpSp>
        <p:nvGrpSpPr>
          <p:cNvPr name="Group 12" id="12"/>
          <p:cNvGrpSpPr/>
          <p:nvPr/>
        </p:nvGrpSpPr>
        <p:grpSpPr>
          <a:xfrm rot="0">
            <a:off x="15905555" y="1645646"/>
            <a:ext cx="228733" cy="22873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14" id="14"/>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grpSp>
        <p:nvGrpSpPr>
          <p:cNvPr name="Group 15" id="15"/>
          <p:cNvGrpSpPr/>
          <p:nvPr/>
        </p:nvGrpSpPr>
        <p:grpSpPr>
          <a:xfrm rot="-9278497">
            <a:off x="-5803234" y="-4205483"/>
            <a:ext cx="9966661" cy="996666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17" id="17"/>
            <p:cNvSpPr txBox="true"/>
            <p:nvPr/>
          </p:nvSpPr>
          <p:spPr>
            <a:xfrm>
              <a:off x="76200" y="809625"/>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18" id="18"/>
          <p:cNvGrpSpPr/>
          <p:nvPr/>
        </p:nvGrpSpPr>
        <p:grpSpPr>
          <a:xfrm rot="-9278497">
            <a:off x="-2997112" y="-1545956"/>
            <a:ext cx="5213104" cy="521310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20" id="20"/>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21" id="21"/>
          <p:cNvGrpSpPr/>
          <p:nvPr/>
        </p:nvGrpSpPr>
        <p:grpSpPr>
          <a:xfrm rot="0">
            <a:off x="16206003" y="1645646"/>
            <a:ext cx="228733" cy="22873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23" id="23"/>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sp>
        <p:nvSpPr>
          <p:cNvPr name="TextBox 24" id="24"/>
          <p:cNvSpPr txBox="true"/>
          <p:nvPr/>
        </p:nvSpPr>
        <p:spPr>
          <a:xfrm rot="0">
            <a:off x="5112730" y="491612"/>
            <a:ext cx="7697755" cy="969402"/>
          </a:xfrm>
          <a:prstGeom prst="rect">
            <a:avLst/>
          </a:prstGeom>
        </p:spPr>
        <p:txBody>
          <a:bodyPr anchor="t" rtlCol="false" tIns="0" lIns="0" bIns="0" rIns="0">
            <a:spAutoFit/>
          </a:bodyPr>
          <a:lstStyle/>
          <a:p>
            <a:pPr algn="ctr">
              <a:lnSpc>
                <a:spcPts val="7993"/>
              </a:lnSpc>
              <a:spcBef>
                <a:spcPct val="0"/>
              </a:spcBef>
            </a:pPr>
            <a:r>
              <a:rPr lang="en-US" b="true" sz="5709">
                <a:solidFill>
                  <a:srgbClr val="F7F7F7"/>
                </a:solidFill>
                <a:latin typeface="Barlow Bold"/>
                <a:ea typeface="Barlow Bold"/>
                <a:cs typeface="Barlow Bold"/>
                <a:sym typeface="Barlow Bold"/>
              </a:rPr>
              <a:t>References</a:t>
            </a:r>
          </a:p>
        </p:txBody>
      </p:sp>
      <p:sp>
        <p:nvSpPr>
          <p:cNvPr name="TextBox 25" id="25"/>
          <p:cNvSpPr txBox="true"/>
          <p:nvPr/>
        </p:nvSpPr>
        <p:spPr>
          <a:xfrm rot="0">
            <a:off x="0" y="2415099"/>
            <a:ext cx="18288000" cy="7296540"/>
          </a:xfrm>
          <a:prstGeom prst="rect">
            <a:avLst/>
          </a:prstGeom>
        </p:spPr>
        <p:txBody>
          <a:bodyPr anchor="t" rtlCol="false" tIns="0" lIns="0" bIns="0" rIns="0">
            <a:spAutoFit/>
          </a:bodyPr>
          <a:lstStyle/>
          <a:p>
            <a:pPr algn="ctr">
              <a:lnSpc>
                <a:spcPts val="3653"/>
              </a:lnSpc>
              <a:spcBef>
                <a:spcPct val="0"/>
              </a:spcBef>
            </a:pPr>
            <a:r>
              <a:rPr lang="en-US" sz="2609" spc="10">
                <a:solidFill>
                  <a:srgbClr val="FFFFFF"/>
                </a:solidFill>
                <a:latin typeface="Barlow"/>
                <a:ea typeface="Barlow"/>
                <a:cs typeface="Barlow"/>
                <a:sym typeface="Barlow"/>
              </a:rPr>
              <a:t>[1] S. F. </a:t>
            </a:r>
            <a:r>
              <a:rPr lang="en-US" sz="2609" spc="10">
                <a:solidFill>
                  <a:srgbClr val="FFFFFF"/>
                </a:solidFill>
                <a:latin typeface="Barlow"/>
                <a:ea typeface="Barlow"/>
                <a:cs typeface="Barlow"/>
                <a:sym typeface="Barlow"/>
              </a:rPr>
              <a:t>Adiba and N. Rahmawati, "Exploring GenAI's Role in Digital Cultural Memory at Museums and Art Galleries in Indonesia: AR and VR Perspectives," Springer, 2024.</a:t>
            </a:r>
          </a:p>
          <a:p>
            <a:pPr algn="ctr">
              <a:lnSpc>
                <a:spcPts val="3653"/>
              </a:lnSpc>
              <a:spcBef>
                <a:spcPct val="0"/>
              </a:spcBef>
            </a:pPr>
          </a:p>
          <a:p>
            <a:pPr algn="ctr">
              <a:lnSpc>
                <a:spcPts val="3653"/>
              </a:lnSpc>
              <a:spcBef>
                <a:spcPct val="0"/>
              </a:spcBef>
            </a:pPr>
            <a:r>
              <a:rPr lang="en-US" sz="2609" spc="10">
                <a:solidFill>
                  <a:srgbClr val="FFFFFF"/>
                </a:solidFill>
                <a:latin typeface="Barlow"/>
                <a:ea typeface="Barlow"/>
                <a:cs typeface="Barlow"/>
                <a:sym typeface="Barlow"/>
              </a:rPr>
              <a:t>[2] P. Ariya, S. Khanchai, K. Intawong, and K. Puritat, "Enhancing Textile Heritage Engagement through Generative AI-Based Virtual Assistants in Virtual Reality Museums," Computers &amp; Education: X Reality, Elsevier, 2025.</a:t>
            </a:r>
          </a:p>
          <a:p>
            <a:pPr algn="ctr">
              <a:lnSpc>
                <a:spcPts val="3653"/>
              </a:lnSpc>
              <a:spcBef>
                <a:spcPct val="0"/>
              </a:spcBef>
            </a:pPr>
          </a:p>
          <a:p>
            <a:pPr algn="ctr">
              <a:lnSpc>
                <a:spcPts val="3653"/>
              </a:lnSpc>
              <a:spcBef>
                <a:spcPct val="0"/>
              </a:spcBef>
            </a:pPr>
            <a:r>
              <a:rPr lang="en-US" sz="2609" spc="10">
                <a:solidFill>
                  <a:srgbClr val="FFFFFF"/>
                </a:solidFill>
                <a:latin typeface="Barlow"/>
                <a:ea typeface="Barlow"/>
                <a:cs typeface="Barlow"/>
                <a:sym typeface="Barlow"/>
              </a:rPr>
              <a:t>[3] B. Çakmak and A. Çekmiş, "AI-Directed Procedural Content Generation for Personalized XR in Industrial-Heritage Museums," Frontiers in Virtual Reality, 2026.</a:t>
            </a:r>
          </a:p>
          <a:p>
            <a:pPr algn="ctr">
              <a:lnSpc>
                <a:spcPts val="3653"/>
              </a:lnSpc>
              <a:spcBef>
                <a:spcPct val="0"/>
              </a:spcBef>
            </a:pPr>
          </a:p>
          <a:p>
            <a:pPr algn="ctr">
              <a:lnSpc>
                <a:spcPts val="3653"/>
              </a:lnSpc>
              <a:spcBef>
                <a:spcPct val="0"/>
              </a:spcBef>
            </a:pPr>
            <a:r>
              <a:rPr lang="en-US" sz="2609" spc="10">
                <a:solidFill>
                  <a:srgbClr val="FFFFFF"/>
                </a:solidFill>
                <a:latin typeface="Barlow"/>
                <a:ea typeface="Barlow"/>
                <a:cs typeface="Barlow"/>
                <a:sym typeface="Barlow"/>
              </a:rPr>
              <a:t>[4] E. A. M. de Oliveira et al., "Immersive Virtual Museums with Spatially-Aware Retrieval-Augmented Generation," Proc. ACM Int. Conf. on Interactive Media Experiences (IMX), 2025.</a:t>
            </a:r>
          </a:p>
          <a:p>
            <a:pPr algn="ctr">
              <a:lnSpc>
                <a:spcPts val="3653"/>
              </a:lnSpc>
              <a:spcBef>
                <a:spcPct val="0"/>
              </a:spcBef>
            </a:pPr>
          </a:p>
          <a:p>
            <a:pPr algn="ctr">
              <a:lnSpc>
                <a:spcPts val="3653"/>
              </a:lnSpc>
              <a:spcBef>
                <a:spcPct val="0"/>
              </a:spcBef>
            </a:pPr>
            <a:r>
              <a:rPr lang="en-US" sz="2609" spc="10">
                <a:solidFill>
                  <a:srgbClr val="FFFFFF"/>
                </a:solidFill>
                <a:latin typeface="Barlow"/>
                <a:ea typeface="Barlow"/>
                <a:cs typeface="Barlow"/>
                <a:sym typeface="Barlow"/>
              </a:rPr>
              <a:t>[5] R. B. C. Filho et al., "Image-to-3D for Cultural Heritage: Voice Interaction and Retrieval-Augmented Guidance in VR," Proc. IEEE AIxVR, pp. 300–304, 2026.</a:t>
            </a:r>
          </a:p>
          <a:p>
            <a:pPr algn="ctr">
              <a:lnSpc>
                <a:spcPts val="3653"/>
              </a:lnSpc>
              <a:spcBef>
                <a:spcPct val="0"/>
              </a:spcBef>
            </a:pPr>
          </a:p>
          <a:p>
            <a:pPr algn="ctr">
              <a:lnSpc>
                <a:spcPts val="3653"/>
              </a:lnSpc>
              <a:spcBef>
                <a:spcPct val="0"/>
              </a:spcBef>
            </a:pPr>
            <a:r>
              <a:rPr lang="en-US" sz="2609" spc="10">
                <a:solidFill>
                  <a:srgbClr val="FFFFFF"/>
                </a:solidFill>
                <a:latin typeface="Barlow"/>
                <a:ea typeface="Barlow"/>
                <a:cs typeface="Barlow"/>
                <a:sym typeface="Barlow"/>
              </a:rPr>
              <a:t>[6] W. Kerle-Malcharek et al., "Design Space and Implementation of RAG-Based Avatars for Virtual Archaeology," arXiv, 2026.</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grpSp>
        <p:nvGrpSpPr>
          <p:cNvPr name="Group 3" id="3"/>
          <p:cNvGrpSpPr/>
          <p:nvPr/>
        </p:nvGrpSpPr>
        <p:grpSpPr>
          <a:xfrm rot="-9278497">
            <a:off x="13587780" y="5089383"/>
            <a:ext cx="9966661" cy="99666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5" id="5"/>
            <p:cNvSpPr txBox="true"/>
            <p:nvPr/>
          </p:nvSpPr>
          <p:spPr>
            <a:xfrm>
              <a:off x="76200" y="809625"/>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15438586" y="6668025"/>
            <a:ext cx="6254675" cy="625467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15605106" y="1645646"/>
            <a:ext cx="228733" cy="22873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11" id="11"/>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grpSp>
        <p:nvGrpSpPr>
          <p:cNvPr name="Group 12" id="12"/>
          <p:cNvGrpSpPr/>
          <p:nvPr/>
        </p:nvGrpSpPr>
        <p:grpSpPr>
          <a:xfrm rot="0">
            <a:off x="15905555" y="1645646"/>
            <a:ext cx="228733" cy="22873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14" id="14"/>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grpSp>
        <p:nvGrpSpPr>
          <p:cNvPr name="Group 15" id="15"/>
          <p:cNvGrpSpPr/>
          <p:nvPr/>
        </p:nvGrpSpPr>
        <p:grpSpPr>
          <a:xfrm rot="-9278497">
            <a:off x="-5803234" y="-4205483"/>
            <a:ext cx="9966661" cy="996666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17" id="17"/>
            <p:cNvSpPr txBox="true"/>
            <p:nvPr/>
          </p:nvSpPr>
          <p:spPr>
            <a:xfrm>
              <a:off x="76200" y="809625"/>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18" id="18"/>
          <p:cNvGrpSpPr/>
          <p:nvPr/>
        </p:nvGrpSpPr>
        <p:grpSpPr>
          <a:xfrm rot="-9278497">
            <a:off x="-2997112" y="-1545956"/>
            <a:ext cx="5213104" cy="521310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F7F7">
                <a:alpha val="12941"/>
              </a:srgbClr>
            </a:solidFill>
            <a:ln w="19050" cap="rnd">
              <a:solidFill>
                <a:srgbClr val="FFFFFF">
                  <a:alpha val="12941"/>
                </a:srgbClr>
              </a:solidFill>
              <a:prstDash val="solid"/>
              <a:round/>
            </a:ln>
          </p:spPr>
        </p:sp>
        <p:sp>
          <p:nvSpPr>
            <p:cNvPr name="TextBox 20" id="20"/>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21" id="21"/>
          <p:cNvGrpSpPr/>
          <p:nvPr/>
        </p:nvGrpSpPr>
        <p:grpSpPr>
          <a:xfrm rot="0">
            <a:off x="16206003" y="1645646"/>
            <a:ext cx="228733" cy="22873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1EC"/>
            </a:solidFill>
          </p:spPr>
        </p:sp>
        <p:sp>
          <p:nvSpPr>
            <p:cNvPr name="TextBox 23" id="23"/>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sp>
        <p:nvSpPr>
          <p:cNvPr name="TextBox 24" id="24"/>
          <p:cNvSpPr txBox="true"/>
          <p:nvPr/>
        </p:nvSpPr>
        <p:spPr>
          <a:xfrm rot="0">
            <a:off x="5112730" y="491612"/>
            <a:ext cx="7697755" cy="969402"/>
          </a:xfrm>
          <a:prstGeom prst="rect">
            <a:avLst/>
          </a:prstGeom>
        </p:spPr>
        <p:txBody>
          <a:bodyPr anchor="t" rtlCol="false" tIns="0" lIns="0" bIns="0" rIns="0">
            <a:spAutoFit/>
          </a:bodyPr>
          <a:lstStyle/>
          <a:p>
            <a:pPr algn="ctr">
              <a:lnSpc>
                <a:spcPts val="7993"/>
              </a:lnSpc>
              <a:spcBef>
                <a:spcPct val="0"/>
              </a:spcBef>
            </a:pPr>
            <a:r>
              <a:rPr lang="en-US" b="true" sz="5709">
                <a:solidFill>
                  <a:srgbClr val="F7F7F7"/>
                </a:solidFill>
                <a:latin typeface="Barlow Bold"/>
                <a:ea typeface="Barlow Bold"/>
                <a:cs typeface="Barlow Bold"/>
                <a:sym typeface="Barlow Bold"/>
              </a:rPr>
              <a:t>References</a:t>
            </a:r>
          </a:p>
        </p:txBody>
      </p:sp>
      <p:sp>
        <p:nvSpPr>
          <p:cNvPr name="TextBox 25" id="25"/>
          <p:cNvSpPr txBox="true"/>
          <p:nvPr/>
        </p:nvSpPr>
        <p:spPr>
          <a:xfrm rot="0">
            <a:off x="0" y="1826755"/>
            <a:ext cx="18288000" cy="7296540"/>
          </a:xfrm>
          <a:prstGeom prst="rect">
            <a:avLst/>
          </a:prstGeom>
        </p:spPr>
        <p:txBody>
          <a:bodyPr anchor="t" rtlCol="false" tIns="0" lIns="0" bIns="0" rIns="0">
            <a:spAutoFit/>
          </a:bodyPr>
          <a:lstStyle/>
          <a:p>
            <a:pPr algn="ctr">
              <a:lnSpc>
                <a:spcPts val="3653"/>
              </a:lnSpc>
              <a:spcBef>
                <a:spcPct val="0"/>
              </a:spcBef>
            </a:pPr>
            <a:r>
              <a:rPr lang="en-US" sz="2609" spc="10">
                <a:solidFill>
                  <a:srgbClr val="F7F7F7"/>
                </a:solidFill>
                <a:latin typeface="Barlow"/>
                <a:ea typeface="Barlow"/>
                <a:cs typeface="Barlow"/>
                <a:sym typeface="Barlow"/>
              </a:rPr>
              <a:t>[7]</a:t>
            </a:r>
            <a:r>
              <a:rPr lang="en-US" sz="2609" spc="10">
                <a:solidFill>
                  <a:srgbClr val="F7F7F7"/>
                </a:solidFill>
                <a:latin typeface="Barlow"/>
                <a:ea typeface="Barlow"/>
                <a:cs typeface="Barlow"/>
                <a:sym typeface="Barlow"/>
              </a:rPr>
              <a:t> M. Konstantakis and</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E</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Iakovak</a:t>
            </a:r>
            <a:r>
              <a:rPr lang="en-US" sz="2609" spc="10">
                <a:solidFill>
                  <a:srgbClr val="F7F7F7"/>
                </a:solidFill>
                <a:latin typeface="Barlow"/>
                <a:ea typeface="Barlow"/>
                <a:cs typeface="Barlow"/>
                <a:sym typeface="Barlow"/>
              </a:rPr>
              <a:t>i, </a:t>
            </a:r>
            <a:r>
              <a:rPr lang="en-US" sz="2609" spc="10">
                <a:solidFill>
                  <a:srgbClr val="F7F7F7"/>
                </a:solidFill>
                <a:latin typeface="Barlow"/>
                <a:ea typeface="Barlow"/>
                <a:cs typeface="Barlow"/>
                <a:sym typeface="Barlow"/>
              </a:rPr>
              <a:t>"</a:t>
            </a:r>
            <a:r>
              <a:rPr lang="en-US" sz="2609" spc="10">
                <a:solidFill>
                  <a:srgbClr val="F7F7F7"/>
                </a:solidFill>
                <a:latin typeface="Barlow"/>
                <a:ea typeface="Barlow"/>
                <a:cs typeface="Barlow"/>
                <a:sym typeface="Barlow"/>
              </a:rPr>
              <a:t>AR</a:t>
            </a:r>
            <a:r>
              <a:rPr lang="en-US" sz="2609" spc="10">
                <a:solidFill>
                  <a:srgbClr val="F7F7F7"/>
                </a:solidFill>
                <a:latin typeface="Barlow"/>
                <a:ea typeface="Barlow"/>
                <a:cs typeface="Barlow"/>
                <a:sym typeface="Barlow"/>
              </a:rPr>
              <a:t>IA:</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An</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AI-</a:t>
            </a:r>
            <a:r>
              <a:rPr lang="en-US" sz="2609" spc="10">
                <a:solidFill>
                  <a:srgbClr val="F7F7F7"/>
                </a:solidFill>
                <a:latin typeface="Barlow"/>
                <a:ea typeface="Barlow"/>
                <a:cs typeface="Barlow"/>
                <a:sym typeface="Barlow"/>
              </a:rPr>
              <a:t>S</a:t>
            </a:r>
            <a:r>
              <a:rPr lang="en-US" sz="2609" spc="10">
                <a:solidFill>
                  <a:srgbClr val="F7F7F7"/>
                </a:solidFill>
                <a:latin typeface="Barlow"/>
                <a:ea typeface="Barlow"/>
                <a:cs typeface="Barlow"/>
                <a:sym typeface="Barlow"/>
              </a:rPr>
              <a:t>upp</a:t>
            </a:r>
            <a:r>
              <a:rPr lang="en-US" sz="2609" spc="10">
                <a:solidFill>
                  <a:srgbClr val="F7F7F7"/>
                </a:solidFill>
                <a:latin typeface="Barlow"/>
                <a:ea typeface="Barlow"/>
                <a:cs typeface="Barlow"/>
                <a:sym typeface="Barlow"/>
              </a:rPr>
              <a:t>o</a:t>
            </a:r>
            <a:r>
              <a:rPr lang="en-US" sz="2609" spc="10">
                <a:solidFill>
                  <a:srgbClr val="F7F7F7"/>
                </a:solidFill>
                <a:latin typeface="Barlow"/>
                <a:ea typeface="Barlow"/>
                <a:cs typeface="Barlow"/>
                <a:sym typeface="Barlow"/>
              </a:rPr>
              <a:t>rted Ad</a:t>
            </a:r>
            <a:r>
              <a:rPr lang="en-US" sz="2609" spc="10">
                <a:solidFill>
                  <a:srgbClr val="F7F7F7"/>
                </a:solidFill>
                <a:latin typeface="Barlow"/>
                <a:ea typeface="Barlow"/>
                <a:cs typeface="Barlow"/>
                <a:sym typeface="Barlow"/>
              </a:rPr>
              <a:t>a</a:t>
            </a:r>
            <a:r>
              <a:rPr lang="en-US" sz="2609" spc="10">
                <a:solidFill>
                  <a:srgbClr val="F7F7F7"/>
                </a:solidFill>
                <a:latin typeface="Barlow"/>
                <a:ea typeface="Barlow"/>
                <a:cs typeface="Barlow"/>
                <a:sym typeface="Barlow"/>
              </a:rPr>
              <a:t>pt</a:t>
            </a:r>
            <a:r>
              <a:rPr lang="en-US" sz="2609" spc="10">
                <a:solidFill>
                  <a:srgbClr val="F7F7F7"/>
                </a:solidFill>
                <a:latin typeface="Barlow"/>
                <a:ea typeface="Barlow"/>
                <a:cs typeface="Barlow"/>
                <a:sym typeface="Barlow"/>
              </a:rPr>
              <a:t>i</a:t>
            </a:r>
            <a:r>
              <a:rPr lang="en-US" sz="2609" spc="10">
                <a:solidFill>
                  <a:srgbClr val="F7F7F7"/>
                </a:solidFill>
                <a:latin typeface="Barlow"/>
                <a:ea typeface="Barlow"/>
                <a:cs typeface="Barlow"/>
                <a:sym typeface="Barlow"/>
              </a:rPr>
              <a:t>ve</a:t>
            </a:r>
            <a:r>
              <a:rPr lang="en-US" sz="2609" spc="10">
                <a:solidFill>
                  <a:srgbClr val="F7F7F7"/>
                </a:solidFill>
                <a:latin typeface="Barlow"/>
                <a:ea typeface="Barlow"/>
                <a:cs typeface="Barlow"/>
                <a:sym typeface="Barlow"/>
              </a:rPr>
              <a:t> A</a:t>
            </a:r>
            <a:r>
              <a:rPr lang="en-US" sz="2609" spc="10">
                <a:solidFill>
                  <a:srgbClr val="F7F7F7"/>
                </a:solidFill>
                <a:latin typeface="Barlow"/>
                <a:ea typeface="Barlow"/>
                <a:cs typeface="Barlow"/>
                <a:sym typeface="Barlow"/>
              </a:rPr>
              <a:t>ugmented</a:t>
            </a:r>
            <a:r>
              <a:rPr lang="en-US" sz="2609" spc="10">
                <a:solidFill>
                  <a:srgbClr val="F7F7F7"/>
                </a:solidFill>
                <a:latin typeface="Barlow"/>
                <a:ea typeface="Barlow"/>
                <a:cs typeface="Barlow"/>
                <a:sym typeface="Barlow"/>
              </a:rPr>
              <a:t> R</a:t>
            </a:r>
            <a:r>
              <a:rPr lang="en-US" sz="2609" spc="10">
                <a:solidFill>
                  <a:srgbClr val="F7F7F7"/>
                </a:solidFill>
                <a:latin typeface="Barlow"/>
                <a:ea typeface="Barlow"/>
                <a:cs typeface="Barlow"/>
                <a:sym typeface="Barlow"/>
              </a:rPr>
              <a:t>eality</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Fra</a:t>
            </a:r>
            <a:r>
              <a:rPr lang="en-US" sz="2609" spc="10">
                <a:solidFill>
                  <a:srgbClr val="F7F7F7"/>
                </a:solidFill>
                <a:latin typeface="Barlow"/>
                <a:ea typeface="Barlow"/>
                <a:cs typeface="Barlow"/>
                <a:sym typeface="Barlow"/>
              </a:rPr>
              <a:t>me</a:t>
            </a:r>
            <a:r>
              <a:rPr lang="en-US" sz="2609" spc="10">
                <a:solidFill>
                  <a:srgbClr val="F7F7F7"/>
                </a:solidFill>
                <a:latin typeface="Barlow"/>
                <a:ea typeface="Barlow"/>
                <a:cs typeface="Barlow"/>
                <a:sym typeface="Barlow"/>
              </a:rPr>
              <a:t>w</a:t>
            </a:r>
            <a:r>
              <a:rPr lang="en-US" sz="2609" spc="10">
                <a:solidFill>
                  <a:srgbClr val="F7F7F7"/>
                </a:solidFill>
                <a:latin typeface="Barlow"/>
                <a:ea typeface="Barlow"/>
                <a:cs typeface="Barlow"/>
                <a:sym typeface="Barlow"/>
              </a:rPr>
              <a:t>o</a:t>
            </a:r>
            <a:r>
              <a:rPr lang="en-US" sz="2609" spc="10">
                <a:solidFill>
                  <a:srgbClr val="F7F7F7"/>
                </a:solidFill>
                <a:latin typeface="Barlow"/>
                <a:ea typeface="Barlow"/>
                <a:cs typeface="Barlow"/>
                <a:sym typeface="Barlow"/>
              </a:rPr>
              <a:t>rk</a:t>
            </a:r>
            <a:r>
              <a:rPr lang="en-US" sz="2609" spc="10">
                <a:solidFill>
                  <a:srgbClr val="F7F7F7"/>
                </a:solidFill>
                <a:latin typeface="Barlow"/>
                <a:ea typeface="Barlow"/>
                <a:cs typeface="Barlow"/>
                <a:sym typeface="Barlow"/>
              </a:rPr>
              <a:t> for Cultural Heritage</a:t>
            </a:r>
            <a:r>
              <a:rPr lang="en-US" sz="2609" spc="10">
                <a:solidFill>
                  <a:srgbClr val="F7F7F7"/>
                </a:solidFill>
                <a:latin typeface="Barlow"/>
                <a:ea typeface="Barlow"/>
                <a:cs typeface="Barlow"/>
                <a:sym typeface="Barlow"/>
              </a:rPr>
              <a:t>,"</a:t>
            </a:r>
            <a:r>
              <a:rPr lang="en-US" sz="2609" spc="10">
                <a:solidFill>
                  <a:srgbClr val="F7F7F7"/>
                </a:solidFill>
                <a:latin typeface="Barlow"/>
                <a:ea typeface="Barlow"/>
                <a:cs typeface="Barlow"/>
                <a:sym typeface="Barlow"/>
              </a:rPr>
              <a:t> In</a:t>
            </a:r>
            <a:r>
              <a:rPr lang="en-US" sz="2609" spc="10">
                <a:solidFill>
                  <a:srgbClr val="F7F7F7"/>
                </a:solidFill>
                <a:latin typeface="Barlow"/>
                <a:ea typeface="Barlow"/>
                <a:cs typeface="Barlow"/>
                <a:sym typeface="Barlow"/>
              </a:rPr>
              <a:t>f</a:t>
            </a:r>
            <a:r>
              <a:rPr lang="en-US" sz="2609" spc="10">
                <a:solidFill>
                  <a:srgbClr val="F7F7F7"/>
                </a:solidFill>
                <a:latin typeface="Barlow"/>
                <a:ea typeface="Barlow"/>
                <a:cs typeface="Barlow"/>
                <a:sym typeface="Barlow"/>
              </a:rPr>
              <a:t>or</a:t>
            </a:r>
            <a:r>
              <a:rPr lang="en-US" sz="2609" spc="10">
                <a:solidFill>
                  <a:srgbClr val="F7F7F7"/>
                </a:solidFill>
                <a:latin typeface="Barlow"/>
                <a:ea typeface="Barlow"/>
                <a:cs typeface="Barlow"/>
                <a:sym typeface="Barlow"/>
              </a:rPr>
              <a:t>m</a:t>
            </a:r>
            <a:r>
              <a:rPr lang="en-US" sz="2609" spc="10">
                <a:solidFill>
                  <a:srgbClr val="F7F7F7"/>
                </a:solidFill>
                <a:latin typeface="Barlow"/>
                <a:ea typeface="Barlow"/>
                <a:cs typeface="Barlow"/>
                <a:sym typeface="Barlow"/>
              </a:rPr>
              <a:t>ati</a:t>
            </a:r>
            <a:r>
              <a:rPr lang="en-US" sz="2609" spc="10">
                <a:solidFill>
                  <a:srgbClr val="F7F7F7"/>
                </a:solidFill>
                <a:latin typeface="Barlow"/>
                <a:ea typeface="Barlow"/>
                <a:cs typeface="Barlow"/>
                <a:sym typeface="Barlow"/>
              </a:rPr>
              <a:t>o</a:t>
            </a:r>
            <a:r>
              <a:rPr lang="en-US" sz="2609" spc="10">
                <a:solidFill>
                  <a:srgbClr val="F7F7F7"/>
                </a:solidFill>
                <a:latin typeface="Barlow"/>
                <a:ea typeface="Barlow"/>
                <a:cs typeface="Barlow"/>
                <a:sym typeface="Barlow"/>
              </a:rPr>
              <a:t>n</a:t>
            </a:r>
            <a:r>
              <a:rPr lang="en-US" sz="2609" spc="10">
                <a:solidFill>
                  <a:srgbClr val="F7F7F7"/>
                </a:solidFill>
                <a:latin typeface="Barlow"/>
                <a:ea typeface="Barlow"/>
                <a:cs typeface="Barlow"/>
                <a:sym typeface="Barlow"/>
              </a:rPr>
              <a:t>,</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MDPI,</a:t>
            </a:r>
            <a:r>
              <a:rPr lang="en-US" sz="2609" spc="10">
                <a:solidFill>
                  <a:srgbClr val="F7F7F7"/>
                </a:solidFill>
                <a:latin typeface="Barlow"/>
                <a:ea typeface="Barlow"/>
                <a:cs typeface="Barlow"/>
                <a:sym typeface="Barlow"/>
              </a:rPr>
              <a:t> 2026</a:t>
            </a:r>
            <a:r>
              <a:rPr lang="en-US" sz="2609" spc="10">
                <a:solidFill>
                  <a:srgbClr val="F7F7F7"/>
                </a:solidFill>
                <a:latin typeface="Barlow"/>
                <a:ea typeface="Barlow"/>
                <a:cs typeface="Barlow"/>
                <a:sym typeface="Barlow"/>
              </a:rPr>
              <a:t>.</a:t>
            </a:r>
          </a:p>
          <a:p>
            <a:pPr algn="ctr">
              <a:lnSpc>
                <a:spcPts val="3653"/>
              </a:lnSpc>
              <a:spcBef>
                <a:spcPct val="0"/>
              </a:spcBef>
            </a:pPr>
          </a:p>
          <a:p>
            <a:pPr algn="ctr">
              <a:lnSpc>
                <a:spcPts val="3653"/>
              </a:lnSpc>
              <a:spcBef>
                <a:spcPct val="0"/>
              </a:spcBef>
            </a:pPr>
            <a:r>
              <a:rPr lang="en-US" sz="2609" spc="10">
                <a:solidFill>
                  <a:srgbClr val="F7F7F7"/>
                </a:solidFill>
                <a:latin typeface="Barlow"/>
                <a:ea typeface="Barlow"/>
                <a:cs typeface="Barlow"/>
                <a:sym typeface="Barlow"/>
              </a:rPr>
              <a:t>[8]</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D.</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Kos</a:t>
            </a:r>
            <a:r>
              <a:rPr lang="en-US" sz="2609" spc="10">
                <a:solidFill>
                  <a:srgbClr val="F7F7F7"/>
                </a:solidFill>
                <a:latin typeface="Barlow"/>
                <a:ea typeface="Barlow"/>
                <a:cs typeface="Barlow"/>
                <a:sym typeface="Barlow"/>
              </a:rPr>
              <a:t>ta</a:t>
            </a:r>
            <a:r>
              <a:rPr lang="en-US" sz="2609" spc="10">
                <a:solidFill>
                  <a:srgbClr val="F7F7F7"/>
                </a:solidFill>
                <a:latin typeface="Barlow"/>
                <a:ea typeface="Barlow"/>
                <a:cs typeface="Barlow"/>
                <a:sym typeface="Barlow"/>
              </a:rPr>
              <a:t>d</a:t>
            </a:r>
            <a:r>
              <a:rPr lang="en-US" sz="2609" spc="10">
                <a:solidFill>
                  <a:srgbClr val="F7F7F7"/>
                </a:solidFill>
                <a:latin typeface="Barlow"/>
                <a:ea typeface="Barlow"/>
                <a:cs typeface="Barlow"/>
                <a:sym typeface="Barlow"/>
              </a:rPr>
              <a:t>i</a:t>
            </a:r>
            <a:r>
              <a:rPr lang="en-US" sz="2609" spc="10">
                <a:solidFill>
                  <a:srgbClr val="F7F7F7"/>
                </a:solidFill>
                <a:latin typeface="Barlow"/>
                <a:ea typeface="Barlow"/>
                <a:cs typeface="Barlow"/>
                <a:sym typeface="Barlow"/>
              </a:rPr>
              <a:t>m</a:t>
            </a:r>
            <a:r>
              <a:rPr lang="en-US" sz="2609" spc="10">
                <a:solidFill>
                  <a:srgbClr val="F7F7F7"/>
                </a:solidFill>
                <a:latin typeface="Barlow"/>
                <a:ea typeface="Barlow"/>
                <a:cs typeface="Barlow"/>
                <a:sym typeface="Barlow"/>
              </a:rPr>
              <a:t>a</a:t>
            </a:r>
            <a:r>
              <a:rPr lang="en-US" sz="2609" spc="10">
                <a:solidFill>
                  <a:srgbClr val="F7F7F7"/>
                </a:solidFill>
                <a:latin typeface="Barlow"/>
                <a:ea typeface="Barlow"/>
                <a:cs typeface="Barlow"/>
                <a:sym typeface="Barlow"/>
              </a:rPr>
              <a:t>s,</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V.</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Kasap</a:t>
            </a:r>
            <a:r>
              <a:rPr lang="en-US" sz="2609" spc="10">
                <a:solidFill>
                  <a:srgbClr val="F7F7F7"/>
                </a:solidFill>
                <a:latin typeface="Barlow"/>
                <a:ea typeface="Barlow"/>
                <a:cs typeface="Barlow"/>
                <a:sym typeface="Barlow"/>
              </a:rPr>
              <a:t>a</a:t>
            </a:r>
            <a:r>
              <a:rPr lang="en-US" sz="2609" spc="10">
                <a:solidFill>
                  <a:srgbClr val="F7F7F7"/>
                </a:solidFill>
                <a:latin typeface="Barlow"/>
                <a:ea typeface="Barlow"/>
                <a:cs typeface="Barlow"/>
                <a:sym typeface="Barlow"/>
              </a:rPr>
              <a:t>k</a:t>
            </a:r>
            <a:r>
              <a:rPr lang="en-US" sz="2609" spc="10">
                <a:solidFill>
                  <a:srgbClr val="F7F7F7"/>
                </a:solidFill>
                <a:latin typeface="Barlow"/>
                <a:ea typeface="Barlow"/>
                <a:cs typeface="Barlow"/>
                <a:sym typeface="Barlow"/>
              </a:rPr>
              <a:t>i</a:t>
            </a:r>
            <a:r>
              <a:rPr lang="en-US" sz="2609" spc="10">
                <a:solidFill>
                  <a:srgbClr val="F7F7F7"/>
                </a:solidFill>
                <a:latin typeface="Barlow"/>
                <a:ea typeface="Barlow"/>
                <a:cs typeface="Barlow"/>
                <a:sym typeface="Barlow"/>
              </a:rPr>
              <a:t>s,</a:t>
            </a:r>
            <a:r>
              <a:rPr lang="en-US" sz="2609" spc="10">
                <a:solidFill>
                  <a:srgbClr val="F7F7F7"/>
                </a:solidFill>
                <a:latin typeface="Barlow"/>
                <a:ea typeface="Barlow"/>
                <a:cs typeface="Barlow"/>
                <a:sym typeface="Barlow"/>
              </a:rPr>
              <a:t> and </a:t>
            </a:r>
            <a:r>
              <a:rPr lang="en-US" sz="2609" spc="10">
                <a:solidFill>
                  <a:srgbClr val="F7F7F7"/>
                </a:solidFill>
                <a:latin typeface="Barlow"/>
                <a:ea typeface="Barlow"/>
                <a:cs typeface="Barlow"/>
                <a:sym typeface="Barlow"/>
              </a:rPr>
              <a:t>K. Ko</a:t>
            </a:r>
            <a:r>
              <a:rPr lang="en-US" sz="2609" spc="10">
                <a:solidFill>
                  <a:srgbClr val="F7F7F7"/>
                </a:solidFill>
                <a:latin typeface="Barlow"/>
                <a:ea typeface="Barlow"/>
                <a:cs typeface="Barlow"/>
                <a:sym typeface="Barlow"/>
              </a:rPr>
              <a:t>ti</a:t>
            </a:r>
            <a:r>
              <a:rPr lang="en-US" sz="2609" spc="10">
                <a:solidFill>
                  <a:srgbClr val="F7F7F7"/>
                </a:solidFill>
                <a:latin typeface="Barlow"/>
                <a:ea typeface="Barlow"/>
                <a:cs typeface="Barlow"/>
                <a:sym typeface="Barlow"/>
              </a:rPr>
              <a:t>s,</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"Exp</a:t>
            </a:r>
            <a:r>
              <a:rPr lang="en-US" sz="2609" spc="10">
                <a:solidFill>
                  <a:srgbClr val="F7F7F7"/>
                </a:solidFill>
                <a:latin typeface="Barlow"/>
                <a:ea typeface="Barlow"/>
                <a:cs typeface="Barlow"/>
                <a:sym typeface="Barlow"/>
              </a:rPr>
              <a:t>l</a:t>
            </a:r>
            <a:r>
              <a:rPr lang="en-US" sz="2609" spc="10">
                <a:solidFill>
                  <a:srgbClr val="F7F7F7"/>
                </a:solidFill>
                <a:latin typeface="Barlow"/>
                <a:ea typeface="Barlow"/>
                <a:cs typeface="Barlow"/>
                <a:sym typeface="Barlow"/>
              </a:rPr>
              <a:t>o</a:t>
            </a:r>
            <a:r>
              <a:rPr lang="en-US" sz="2609" spc="10">
                <a:solidFill>
                  <a:srgbClr val="F7F7F7"/>
                </a:solidFill>
                <a:latin typeface="Barlow"/>
                <a:ea typeface="Barlow"/>
                <a:cs typeface="Barlow"/>
                <a:sym typeface="Barlow"/>
              </a:rPr>
              <a:t>it</a:t>
            </a:r>
            <a:r>
              <a:rPr lang="en-US" sz="2609" spc="10">
                <a:solidFill>
                  <a:srgbClr val="F7F7F7"/>
                </a:solidFill>
                <a:latin typeface="Barlow"/>
                <a:ea typeface="Barlow"/>
                <a:cs typeface="Barlow"/>
                <a:sym typeface="Barlow"/>
              </a:rPr>
              <a:t>ing</a:t>
            </a:r>
            <a:r>
              <a:rPr lang="en-US" sz="2609" spc="10">
                <a:solidFill>
                  <a:srgbClr val="F7F7F7"/>
                </a:solidFill>
                <a:latin typeface="Barlow"/>
                <a:ea typeface="Barlow"/>
                <a:cs typeface="Barlow"/>
                <a:sym typeface="Barlow"/>
              </a:rPr>
              <a:t> VR, </a:t>
            </a:r>
            <a:r>
              <a:rPr lang="en-US" sz="2609" spc="10">
                <a:solidFill>
                  <a:srgbClr val="F7F7F7"/>
                </a:solidFill>
                <a:latin typeface="Barlow"/>
                <a:ea typeface="Barlow"/>
                <a:cs typeface="Barlow"/>
                <a:sym typeface="Barlow"/>
              </a:rPr>
              <a:t>AIoT</a:t>
            </a:r>
            <a:r>
              <a:rPr lang="en-US" sz="2609" spc="10">
                <a:solidFill>
                  <a:srgbClr val="F7F7F7"/>
                </a:solidFill>
                <a:latin typeface="Barlow"/>
                <a:ea typeface="Barlow"/>
                <a:cs typeface="Barlow"/>
                <a:sym typeface="Barlow"/>
              </a:rPr>
              <a:t> a</a:t>
            </a:r>
            <a:r>
              <a:rPr lang="en-US" sz="2609" spc="10">
                <a:solidFill>
                  <a:srgbClr val="F7F7F7"/>
                </a:solidFill>
                <a:latin typeface="Barlow"/>
                <a:ea typeface="Barlow"/>
                <a:cs typeface="Barlow"/>
                <a:sym typeface="Barlow"/>
              </a:rPr>
              <a:t>nd S</a:t>
            </a:r>
            <a:r>
              <a:rPr lang="en-US" sz="2609" spc="10">
                <a:solidFill>
                  <a:srgbClr val="F7F7F7"/>
                </a:solidFill>
                <a:latin typeface="Barlow"/>
                <a:ea typeface="Barlow"/>
                <a:cs typeface="Barlow"/>
                <a:sym typeface="Barlow"/>
              </a:rPr>
              <a:t>e</a:t>
            </a:r>
            <a:r>
              <a:rPr lang="en-US" sz="2609" spc="10">
                <a:solidFill>
                  <a:srgbClr val="F7F7F7"/>
                </a:solidFill>
                <a:latin typeface="Barlow"/>
                <a:ea typeface="Barlow"/>
                <a:cs typeface="Barlow"/>
                <a:sym typeface="Barlow"/>
              </a:rPr>
              <a:t>m</a:t>
            </a:r>
            <a:r>
              <a:rPr lang="en-US" sz="2609" spc="10">
                <a:solidFill>
                  <a:srgbClr val="F7F7F7"/>
                </a:solidFill>
                <a:latin typeface="Barlow"/>
                <a:ea typeface="Barlow"/>
                <a:cs typeface="Barlow"/>
                <a:sym typeface="Barlow"/>
              </a:rPr>
              <a:t>a</a:t>
            </a:r>
            <a:r>
              <a:rPr lang="en-US" sz="2609" spc="10">
                <a:solidFill>
                  <a:srgbClr val="F7F7F7"/>
                </a:solidFill>
                <a:latin typeface="Barlow"/>
                <a:ea typeface="Barlow"/>
                <a:cs typeface="Barlow"/>
                <a:sym typeface="Barlow"/>
              </a:rPr>
              <a:t>nti</a:t>
            </a:r>
            <a:r>
              <a:rPr lang="en-US" sz="2609" spc="10">
                <a:solidFill>
                  <a:srgbClr val="F7F7F7"/>
                </a:solidFill>
                <a:latin typeface="Barlow"/>
                <a:ea typeface="Barlow"/>
                <a:cs typeface="Barlow"/>
                <a:sym typeface="Barlow"/>
              </a:rPr>
              <a:t>c</a:t>
            </a:r>
            <a:r>
              <a:rPr lang="en-US" sz="2609" spc="10">
                <a:solidFill>
                  <a:srgbClr val="F7F7F7"/>
                </a:solidFill>
                <a:latin typeface="Barlow"/>
                <a:ea typeface="Barlow"/>
                <a:cs typeface="Barlow"/>
                <a:sym typeface="Barlow"/>
              </a:rPr>
              <a:t>s</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T</a:t>
            </a:r>
            <a:r>
              <a:rPr lang="en-US" sz="2609" spc="10">
                <a:solidFill>
                  <a:srgbClr val="F7F7F7"/>
                </a:solidFill>
                <a:latin typeface="Barlow"/>
                <a:ea typeface="Barlow"/>
                <a:cs typeface="Barlow"/>
                <a:sym typeface="Barlow"/>
              </a:rPr>
              <a:t>o</a:t>
            </a:r>
            <a:r>
              <a:rPr lang="en-US" sz="2609" spc="10">
                <a:solidFill>
                  <a:srgbClr val="F7F7F7"/>
                </a:solidFill>
                <a:latin typeface="Barlow"/>
                <a:ea typeface="Barlow"/>
                <a:cs typeface="Barlow"/>
                <a:sym typeface="Barlow"/>
              </a:rPr>
              <a:t>war</a:t>
            </a:r>
            <a:r>
              <a:rPr lang="en-US" sz="2609" spc="10">
                <a:solidFill>
                  <a:srgbClr val="F7F7F7"/>
                </a:solidFill>
                <a:latin typeface="Barlow"/>
                <a:ea typeface="Barlow"/>
                <a:cs typeface="Barlow"/>
                <a:sym typeface="Barlow"/>
              </a:rPr>
              <a:t>d</a:t>
            </a:r>
            <a:r>
              <a:rPr lang="en-US" sz="2609" spc="10">
                <a:solidFill>
                  <a:srgbClr val="F7F7F7"/>
                </a:solidFill>
                <a:latin typeface="Barlow"/>
                <a:ea typeface="Barlow"/>
                <a:cs typeface="Barlow"/>
                <a:sym typeface="Barlow"/>
              </a:rPr>
              <a:t>s</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a</a:t>
            </a:r>
            <a:r>
              <a:rPr lang="en-US" sz="2609" spc="10">
                <a:solidFill>
                  <a:srgbClr val="F7F7F7"/>
                </a:solidFill>
                <a:latin typeface="Barlow"/>
                <a:ea typeface="Barlow"/>
                <a:cs typeface="Barlow"/>
                <a:sym typeface="Barlow"/>
              </a:rPr>
              <a:t>n </a:t>
            </a:r>
            <a:r>
              <a:rPr lang="en-US" sz="2609" spc="10">
                <a:solidFill>
                  <a:srgbClr val="F7F7F7"/>
                </a:solidFill>
                <a:latin typeface="Barlow"/>
                <a:ea typeface="Barlow"/>
                <a:cs typeface="Barlow"/>
                <a:sym typeface="Barlow"/>
              </a:rPr>
              <a:t>Ad</a:t>
            </a:r>
            <a:r>
              <a:rPr lang="en-US" sz="2609" spc="10">
                <a:solidFill>
                  <a:srgbClr val="F7F7F7"/>
                </a:solidFill>
                <a:latin typeface="Barlow"/>
                <a:ea typeface="Barlow"/>
                <a:cs typeface="Barlow"/>
                <a:sym typeface="Barlow"/>
              </a:rPr>
              <a:t>a</a:t>
            </a:r>
            <a:r>
              <a:rPr lang="en-US" sz="2609" spc="10">
                <a:solidFill>
                  <a:srgbClr val="F7F7F7"/>
                </a:solidFill>
                <a:latin typeface="Barlow"/>
                <a:ea typeface="Barlow"/>
                <a:cs typeface="Barlow"/>
                <a:sym typeface="Barlow"/>
              </a:rPr>
              <a:t>pt</a:t>
            </a:r>
            <a:r>
              <a:rPr lang="en-US" sz="2609" spc="10">
                <a:solidFill>
                  <a:srgbClr val="F7F7F7"/>
                </a:solidFill>
                <a:latin typeface="Barlow"/>
                <a:ea typeface="Barlow"/>
                <a:cs typeface="Barlow"/>
                <a:sym typeface="Barlow"/>
              </a:rPr>
              <a:t>i</a:t>
            </a:r>
            <a:r>
              <a:rPr lang="en-US" sz="2609" spc="10">
                <a:solidFill>
                  <a:srgbClr val="F7F7F7"/>
                </a:solidFill>
                <a:latin typeface="Barlow"/>
                <a:ea typeface="Barlow"/>
                <a:cs typeface="Barlow"/>
                <a:sym typeface="Barlow"/>
              </a:rPr>
              <a:t>v</a:t>
            </a:r>
            <a:r>
              <a:rPr lang="en-US" sz="2609" spc="10">
                <a:solidFill>
                  <a:srgbClr val="F7F7F7"/>
                </a:solidFill>
                <a:latin typeface="Barlow"/>
                <a:ea typeface="Barlow"/>
                <a:cs typeface="Barlow"/>
                <a:sym typeface="Barlow"/>
              </a:rPr>
              <a:t>e </a:t>
            </a:r>
            <a:r>
              <a:rPr lang="en-US" sz="2609" spc="10">
                <a:solidFill>
                  <a:srgbClr val="F7F7F7"/>
                </a:solidFill>
                <a:latin typeface="Barlow"/>
                <a:ea typeface="Barlow"/>
                <a:cs typeface="Barlow"/>
                <a:sym typeface="Barlow"/>
              </a:rPr>
              <a:t>V</a:t>
            </a:r>
            <a:r>
              <a:rPr lang="en-US" sz="2609" spc="10">
                <a:solidFill>
                  <a:srgbClr val="F7F7F7"/>
                </a:solidFill>
                <a:latin typeface="Barlow"/>
                <a:ea typeface="Barlow"/>
                <a:cs typeface="Barlow"/>
                <a:sym typeface="Barlow"/>
              </a:rPr>
              <a:t>i</a:t>
            </a:r>
            <a:r>
              <a:rPr lang="en-US" sz="2609" spc="10">
                <a:solidFill>
                  <a:srgbClr val="F7F7F7"/>
                </a:solidFill>
                <a:latin typeface="Barlow"/>
                <a:ea typeface="Barlow"/>
                <a:cs typeface="Barlow"/>
                <a:sym typeface="Barlow"/>
              </a:rPr>
              <a:t>rtu</a:t>
            </a:r>
            <a:r>
              <a:rPr lang="en-US" sz="2609" spc="10">
                <a:solidFill>
                  <a:srgbClr val="F7F7F7"/>
                </a:solidFill>
                <a:latin typeface="Barlow"/>
                <a:ea typeface="Barlow"/>
                <a:cs typeface="Barlow"/>
                <a:sym typeface="Barlow"/>
              </a:rPr>
              <a:t>a</a:t>
            </a:r>
            <a:r>
              <a:rPr lang="en-US" sz="2609" spc="10">
                <a:solidFill>
                  <a:srgbClr val="F7F7F7"/>
                </a:solidFill>
                <a:latin typeface="Barlow"/>
                <a:ea typeface="Barlow"/>
                <a:cs typeface="Barlow"/>
                <a:sym typeface="Barlow"/>
              </a:rPr>
              <a:t>l</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Museum</a:t>
            </a:r>
            <a:r>
              <a:rPr lang="en-US" sz="2609" spc="10">
                <a:solidFill>
                  <a:srgbClr val="F7F7F7"/>
                </a:solidFill>
                <a:latin typeface="Barlow"/>
                <a:ea typeface="Barlow"/>
                <a:cs typeface="Barlow"/>
                <a:sym typeface="Barlow"/>
              </a:rPr>
              <a:t>,</a:t>
            </a:r>
            <a:r>
              <a:rPr lang="en-US" sz="2609" spc="10">
                <a:solidFill>
                  <a:srgbClr val="F7F7F7"/>
                </a:solidFill>
                <a:latin typeface="Barlow"/>
                <a:ea typeface="Barlow"/>
                <a:cs typeface="Barlow"/>
                <a:sym typeface="Barlow"/>
              </a:rPr>
              <a:t>"</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P</a:t>
            </a:r>
            <a:r>
              <a:rPr lang="en-US" sz="2609" spc="10">
                <a:solidFill>
                  <a:srgbClr val="F7F7F7"/>
                </a:solidFill>
                <a:latin typeface="Barlow"/>
                <a:ea typeface="Barlow"/>
                <a:cs typeface="Barlow"/>
                <a:sym typeface="Barlow"/>
              </a:rPr>
              <a:t>ro</a:t>
            </a:r>
            <a:r>
              <a:rPr lang="en-US" sz="2609" spc="10">
                <a:solidFill>
                  <a:srgbClr val="F7F7F7"/>
                </a:solidFill>
                <a:latin typeface="Barlow"/>
                <a:ea typeface="Barlow"/>
                <a:cs typeface="Barlow"/>
                <a:sym typeface="Barlow"/>
              </a:rPr>
              <a:t>c</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IEEE</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S</a:t>
            </a:r>
            <a:r>
              <a:rPr lang="en-US" sz="2609" spc="10">
                <a:solidFill>
                  <a:srgbClr val="F7F7F7"/>
                </a:solidFill>
                <a:latin typeface="Barlow"/>
                <a:ea typeface="Barlow"/>
                <a:cs typeface="Barlow"/>
                <a:sym typeface="Barlow"/>
              </a:rPr>
              <a:t>M</a:t>
            </a:r>
            <a:r>
              <a:rPr lang="en-US" sz="2609" spc="10">
                <a:solidFill>
                  <a:srgbClr val="F7F7F7"/>
                </a:solidFill>
                <a:latin typeface="Barlow"/>
                <a:ea typeface="Barlow"/>
                <a:cs typeface="Barlow"/>
                <a:sym typeface="Barlow"/>
              </a:rPr>
              <a:t>AP</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2025.</a:t>
            </a:r>
          </a:p>
          <a:p>
            <a:pPr algn="ctr">
              <a:lnSpc>
                <a:spcPts val="3653"/>
              </a:lnSpc>
              <a:spcBef>
                <a:spcPct val="0"/>
              </a:spcBef>
            </a:pPr>
          </a:p>
          <a:p>
            <a:pPr algn="ctr">
              <a:lnSpc>
                <a:spcPts val="3653"/>
              </a:lnSpc>
              <a:spcBef>
                <a:spcPct val="0"/>
              </a:spcBef>
            </a:pPr>
            <a:r>
              <a:rPr lang="en-US" sz="2609" spc="10">
                <a:solidFill>
                  <a:srgbClr val="F7F7F7"/>
                </a:solidFill>
                <a:latin typeface="Barlow"/>
                <a:ea typeface="Barlow"/>
                <a:cs typeface="Barlow"/>
                <a:sym typeface="Barlow"/>
              </a:rPr>
              <a:t>[9]</a:t>
            </a:r>
            <a:r>
              <a:rPr lang="en-US" sz="2609" spc="10">
                <a:solidFill>
                  <a:srgbClr val="F7F7F7"/>
                </a:solidFill>
                <a:latin typeface="Barlow"/>
                <a:ea typeface="Barlow"/>
                <a:cs typeface="Barlow"/>
                <a:sym typeface="Barlow"/>
              </a:rPr>
              <a:t> P. </a:t>
            </a:r>
            <a:r>
              <a:rPr lang="en-US" sz="2609" spc="10">
                <a:solidFill>
                  <a:srgbClr val="F7F7F7"/>
                </a:solidFill>
                <a:latin typeface="Barlow"/>
                <a:ea typeface="Barlow"/>
                <a:cs typeface="Barlow"/>
                <a:sym typeface="Barlow"/>
              </a:rPr>
              <a:t>K</a:t>
            </a:r>
            <a:r>
              <a:rPr lang="en-US" sz="2609" spc="10">
                <a:solidFill>
                  <a:srgbClr val="F7F7F7"/>
                </a:solidFill>
                <a:latin typeface="Barlow"/>
                <a:ea typeface="Barlow"/>
                <a:cs typeface="Barlow"/>
                <a:sym typeface="Barlow"/>
              </a:rPr>
              <a:t>u</a:t>
            </a:r>
            <a:r>
              <a:rPr lang="en-US" sz="2609" spc="10">
                <a:solidFill>
                  <a:srgbClr val="F7F7F7"/>
                </a:solidFill>
                <a:latin typeface="Barlow"/>
                <a:ea typeface="Barlow"/>
                <a:cs typeface="Barlow"/>
                <a:sym typeface="Barlow"/>
              </a:rPr>
              <a:t>mar</a:t>
            </a:r>
            <a:r>
              <a:rPr lang="en-US" sz="2609" spc="10">
                <a:solidFill>
                  <a:srgbClr val="F7F7F7"/>
                </a:solidFill>
                <a:latin typeface="Barlow"/>
                <a:ea typeface="Barlow"/>
                <a:cs typeface="Barlow"/>
                <a:sym typeface="Barlow"/>
              </a:rPr>
              <a:t>i </a:t>
            </a:r>
            <a:r>
              <a:rPr lang="en-US" sz="2609" spc="10">
                <a:solidFill>
                  <a:srgbClr val="F7F7F7"/>
                </a:solidFill>
                <a:latin typeface="Barlow"/>
                <a:ea typeface="Barlow"/>
                <a:cs typeface="Barlow"/>
                <a:sym typeface="Barlow"/>
              </a:rPr>
              <a:t>et</a:t>
            </a:r>
            <a:r>
              <a:rPr lang="en-US" sz="2609" spc="10">
                <a:solidFill>
                  <a:srgbClr val="F7F7F7"/>
                </a:solidFill>
                <a:latin typeface="Barlow"/>
                <a:ea typeface="Barlow"/>
                <a:cs typeface="Barlow"/>
                <a:sym typeface="Barlow"/>
              </a:rPr>
              <a:t> a</a:t>
            </a:r>
            <a:r>
              <a:rPr lang="en-US" sz="2609" spc="10">
                <a:solidFill>
                  <a:srgbClr val="F7F7F7"/>
                </a:solidFill>
                <a:latin typeface="Barlow"/>
                <a:ea typeface="Barlow"/>
                <a:cs typeface="Barlow"/>
                <a:sym typeface="Barlow"/>
              </a:rPr>
              <a:t>l</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"V</a:t>
            </a:r>
            <a:r>
              <a:rPr lang="en-US" sz="2609" spc="10">
                <a:solidFill>
                  <a:srgbClr val="F7F7F7"/>
                </a:solidFill>
                <a:latin typeface="Barlow"/>
                <a:ea typeface="Barlow"/>
                <a:cs typeface="Barlow"/>
                <a:sym typeface="Barlow"/>
              </a:rPr>
              <a:t>ir</a:t>
            </a:r>
            <a:r>
              <a:rPr lang="en-US" sz="2609" spc="10">
                <a:solidFill>
                  <a:srgbClr val="F7F7F7"/>
                </a:solidFill>
                <a:latin typeface="Barlow"/>
                <a:ea typeface="Barlow"/>
                <a:cs typeface="Barlow"/>
                <a:sym typeface="Barlow"/>
              </a:rPr>
              <a:t>tual</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Art</a:t>
            </a:r>
            <a:r>
              <a:rPr lang="en-US" sz="2609" spc="10">
                <a:solidFill>
                  <a:srgbClr val="F7F7F7"/>
                </a:solidFill>
                <a:latin typeface="Barlow"/>
                <a:ea typeface="Barlow"/>
                <a:cs typeface="Barlow"/>
                <a:sym typeface="Barlow"/>
              </a:rPr>
              <a:t> Space</a:t>
            </a:r>
            <a:r>
              <a:rPr lang="en-US" sz="2609" spc="10">
                <a:solidFill>
                  <a:srgbClr val="F7F7F7"/>
                </a:solidFill>
                <a:latin typeface="Barlow"/>
                <a:ea typeface="Barlow"/>
                <a:cs typeface="Barlow"/>
                <a:sym typeface="Barlow"/>
              </a:rPr>
              <a:t>s</a:t>
            </a:r>
            <a:r>
              <a:rPr lang="en-US" sz="2609" spc="10">
                <a:solidFill>
                  <a:srgbClr val="F7F7F7"/>
                </a:solidFill>
                <a:latin typeface="Barlow"/>
                <a:ea typeface="Barlow"/>
                <a:cs typeface="Barlow"/>
                <a:sym typeface="Barlow"/>
              </a:rPr>
              <a:t> and </a:t>
            </a:r>
            <a:r>
              <a:rPr lang="en-US" sz="2609" spc="10">
                <a:solidFill>
                  <a:srgbClr val="F7F7F7"/>
                </a:solidFill>
                <a:latin typeface="Barlow"/>
                <a:ea typeface="Barlow"/>
                <a:cs typeface="Barlow"/>
                <a:sym typeface="Barlow"/>
              </a:rPr>
              <a:t>Machin</a:t>
            </a:r>
            <a:r>
              <a:rPr lang="en-US" sz="2609" spc="10">
                <a:solidFill>
                  <a:srgbClr val="F7F7F7"/>
                </a:solidFill>
                <a:latin typeface="Barlow"/>
                <a:ea typeface="Barlow"/>
                <a:cs typeface="Barlow"/>
                <a:sym typeface="Barlow"/>
              </a:rPr>
              <a:t>e</a:t>
            </a:r>
            <a:r>
              <a:rPr lang="en-US" sz="2609" spc="10">
                <a:solidFill>
                  <a:srgbClr val="F7F7F7"/>
                </a:solidFill>
                <a:latin typeface="Barlow"/>
                <a:ea typeface="Barlow"/>
                <a:cs typeface="Barlow"/>
                <a:sym typeface="Barlow"/>
              </a:rPr>
              <a:t> L</a:t>
            </a:r>
            <a:r>
              <a:rPr lang="en-US" sz="2609" spc="10">
                <a:solidFill>
                  <a:srgbClr val="F7F7F7"/>
                </a:solidFill>
                <a:latin typeface="Barlow"/>
                <a:ea typeface="Barlow"/>
                <a:cs typeface="Barlow"/>
                <a:sym typeface="Barlow"/>
              </a:rPr>
              <a:t>e</a:t>
            </a:r>
            <a:r>
              <a:rPr lang="en-US" sz="2609" spc="10">
                <a:solidFill>
                  <a:srgbClr val="F7F7F7"/>
                </a:solidFill>
                <a:latin typeface="Barlow"/>
                <a:ea typeface="Barlow"/>
                <a:cs typeface="Barlow"/>
                <a:sym typeface="Barlow"/>
              </a:rPr>
              <a:t>ar</a:t>
            </a:r>
            <a:r>
              <a:rPr lang="en-US" sz="2609" spc="10">
                <a:solidFill>
                  <a:srgbClr val="F7F7F7"/>
                </a:solidFill>
                <a:latin typeface="Barlow"/>
                <a:ea typeface="Barlow"/>
                <a:cs typeface="Barlow"/>
                <a:sym typeface="Barlow"/>
              </a:rPr>
              <a:t>n</a:t>
            </a:r>
            <a:r>
              <a:rPr lang="en-US" sz="2609" spc="10">
                <a:solidFill>
                  <a:srgbClr val="F7F7F7"/>
                </a:solidFill>
                <a:latin typeface="Barlow"/>
                <a:ea typeface="Barlow"/>
                <a:cs typeface="Barlow"/>
                <a:sym typeface="Barlow"/>
              </a:rPr>
              <a:t>ing Cur</a:t>
            </a:r>
            <a:r>
              <a:rPr lang="en-US" sz="2609" spc="10">
                <a:solidFill>
                  <a:srgbClr val="F7F7F7"/>
                </a:solidFill>
                <a:latin typeface="Barlow"/>
                <a:ea typeface="Barlow"/>
                <a:cs typeface="Barlow"/>
                <a:sym typeface="Barlow"/>
              </a:rPr>
              <a:t>ation</a:t>
            </a:r>
            <a:r>
              <a:rPr lang="en-US" sz="2609" spc="10">
                <a:solidFill>
                  <a:srgbClr val="F7F7F7"/>
                </a:solidFill>
                <a:latin typeface="Barlow"/>
                <a:ea typeface="Barlow"/>
                <a:cs typeface="Barlow"/>
                <a:sym typeface="Barlow"/>
              </a:rPr>
              <a:t>,"</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Sh</a:t>
            </a:r>
            <a:r>
              <a:rPr lang="en-US" sz="2609" spc="10">
                <a:solidFill>
                  <a:srgbClr val="F7F7F7"/>
                </a:solidFill>
                <a:latin typeface="Barlow"/>
                <a:ea typeface="Barlow"/>
                <a:cs typeface="Barlow"/>
                <a:sym typeface="Barlow"/>
              </a:rPr>
              <a:t>o</a:t>
            </a:r>
            <a:r>
              <a:rPr lang="en-US" sz="2609" spc="10">
                <a:solidFill>
                  <a:srgbClr val="F7F7F7"/>
                </a:solidFill>
                <a:latin typeface="Barlow"/>
                <a:ea typeface="Barlow"/>
                <a:cs typeface="Barlow"/>
                <a:sym typeface="Barlow"/>
              </a:rPr>
              <a:t>dhKo</a:t>
            </a:r>
            <a:r>
              <a:rPr lang="en-US" sz="2609" spc="10">
                <a:solidFill>
                  <a:srgbClr val="F7F7F7"/>
                </a:solidFill>
                <a:latin typeface="Barlow"/>
                <a:ea typeface="Barlow"/>
                <a:cs typeface="Barlow"/>
                <a:sym typeface="Barlow"/>
              </a:rPr>
              <a:t>s</a:t>
            </a:r>
            <a:r>
              <a:rPr lang="en-US" sz="2609" spc="10">
                <a:solidFill>
                  <a:srgbClr val="F7F7F7"/>
                </a:solidFill>
                <a:latin typeface="Barlow"/>
                <a:ea typeface="Barlow"/>
                <a:cs typeface="Barlow"/>
                <a:sym typeface="Barlow"/>
              </a:rPr>
              <a:t>h:</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Jou</a:t>
            </a:r>
            <a:r>
              <a:rPr lang="en-US" sz="2609" spc="10">
                <a:solidFill>
                  <a:srgbClr val="F7F7F7"/>
                </a:solidFill>
                <a:latin typeface="Barlow"/>
                <a:ea typeface="Barlow"/>
                <a:cs typeface="Barlow"/>
                <a:sym typeface="Barlow"/>
              </a:rPr>
              <a:t>r</a:t>
            </a:r>
            <a:r>
              <a:rPr lang="en-US" sz="2609" spc="10">
                <a:solidFill>
                  <a:srgbClr val="F7F7F7"/>
                </a:solidFill>
                <a:latin typeface="Barlow"/>
                <a:ea typeface="Barlow"/>
                <a:cs typeface="Barlow"/>
                <a:sym typeface="Barlow"/>
              </a:rPr>
              <a:t>nal</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o</a:t>
            </a:r>
            <a:r>
              <a:rPr lang="en-US" sz="2609" spc="10">
                <a:solidFill>
                  <a:srgbClr val="F7F7F7"/>
                </a:solidFill>
                <a:latin typeface="Barlow"/>
                <a:ea typeface="Barlow"/>
                <a:cs typeface="Barlow"/>
                <a:sym typeface="Barlow"/>
              </a:rPr>
              <a:t>f Vi</a:t>
            </a:r>
            <a:r>
              <a:rPr lang="en-US" sz="2609" spc="10">
                <a:solidFill>
                  <a:srgbClr val="F7F7F7"/>
                </a:solidFill>
                <a:latin typeface="Barlow"/>
                <a:ea typeface="Barlow"/>
                <a:cs typeface="Barlow"/>
                <a:sym typeface="Barlow"/>
              </a:rPr>
              <a:t>s</a:t>
            </a:r>
            <a:r>
              <a:rPr lang="en-US" sz="2609" spc="10">
                <a:solidFill>
                  <a:srgbClr val="F7F7F7"/>
                </a:solidFill>
                <a:latin typeface="Barlow"/>
                <a:ea typeface="Barlow"/>
                <a:cs typeface="Barlow"/>
                <a:sym typeface="Barlow"/>
              </a:rPr>
              <a:t>ual a</a:t>
            </a:r>
            <a:r>
              <a:rPr lang="en-US" sz="2609" spc="10">
                <a:solidFill>
                  <a:srgbClr val="F7F7F7"/>
                </a:solidFill>
                <a:latin typeface="Barlow"/>
                <a:ea typeface="Barlow"/>
                <a:cs typeface="Barlow"/>
                <a:sym typeface="Barlow"/>
              </a:rPr>
              <a:t>nd P</a:t>
            </a:r>
            <a:r>
              <a:rPr lang="en-US" sz="2609" spc="10">
                <a:solidFill>
                  <a:srgbClr val="F7F7F7"/>
                </a:solidFill>
                <a:latin typeface="Barlow"/>
                <a:ea typeface="Barlow"/>
                <a:cs typeface="Barlow"/>
                <a:sym typeface="Barlow"/>
              </a:rPr>
              <a:t>e</a:t>
            </a:r>
            <a:r>
              <a:rPr lang="en-US" sz="2609" spc="10">
                <a:solidFill>
                  <a:srgbClr val="F7F7F7"/>
                </a:solidFill>
                <a:latin typeface="Barlow"/>
                <a:ea typeface="Barlow"/>
                <a:cs typeface="Barlow"/>
                <a:sym typeface="Barlow"/>
              </a:rPr>
              <a:t>rf</a:t>
            </a:r>
            <a:r>
              <a:rPr lang="en-US" sz="2609" spc="10">
                <a:solidFill>
                  <a:srgbClr val="F7F7F7"/>
                </a:solidFill>
                <a:latin typeface="Barlow"/>
                <a:ea typeface="Barlow"/>
                <a:cs typeface="Barlow"/>
                <a:sym typeface="Barlow"/>
              </a:rPr>
              <a:t>o</a:t>
            </a:r>
            <a:r>
              <a:rPr lang="en-US" sz="2609" spc="10">
                <a:solidFill>
                  <a:srgbClr val="F7F7F7"/>
                </a:solidFill>
                <a:latin typeface="Barlow"/>
                <a:ea typeface="Barlow"/>
                <a:cs typeface="Barlow"/>
                <a:sym typeface="Barlow"/>
              </a:rPr>
              <a:t>rmin</a:t>
            </a:r>
            <a:r>
              <a:rPr lang="en-US" sz="2609" spc="10">
                <a:solidFill>
                  <a:srgbClr val="F7F7F7"/>
                </a:solidFill>
                <a:latin typeface="Barlow"/>
                <a:ea typeface="Barlow"/>
                <a:cs typeface="Barlow"/>
                <a:sym typeface="Barlow"/>
              </a:rPr>
              <a:t>g Ar</a:t>
            </a:r>
            <a:r>
              <a:rPr lang="en-US" sz="2609" spc="10">
                <a:solidFill>
                  <a:srgbClr val="F7F7F7"/>
                </a:solidFill>
                <a:latin typeface="Barlow"/>
                <a:ea typeface="Barlow"/>
                <a:cs typeface="Barlow"/>
                <a:sym typeface="Barlow"/>
              </a:rPr>
              <a:t>ts</a:t>
            </a:r>
            <a:r>
              <a:rPr lang="en-US" sz="2609" spc="10">
                <a:solidFill>
                  <a:srgbClr val="F7F7F7"/>
                </a:solidFill>
                <a:latin typeface="Barlow"/>
                <a:ea typeface="Barlow"/>
                <a:cs typeface="Barlow"/>
                <a:sym typeface="Barlow"/>
              </a:rPr>
              <a:t>, 2025.</a:t>
            </a:r>
          </a:p>
          <a:p>
            <a:pPr algn="ctr">
              <a:lnSpc>
                <a:spcPts val="3653"/>
              </a:lnSpc>
              <a:spcBef>
                <a:spcPct val="0"/>
              </a:spcBef>
            </a:pPr>
          </a:p>
          <a:p>
            <a:pPr algn="ctr">
              <a:lnSpc>
                <a:spcPts val="3653"/>
              </a:lnSpc>
              <a:spcBef>
                <a:spcPct val="0"/>
              </a:spcBef>
            </a:pPr>
            <a:r>
              <a:rPr lang="en-US" sz="2609" spc="10">
                <a:solidFill>
                  <a:srgbClr val="F7F7F7"/>
                </a:solidFill>
                <a:latin typeface="Barlow"/>
                <a:ea typeface="Barlow"/>
                <a:cs typeface="Barlow"/>
                <a:sym typeface="Barlow"/>
              </a:rPr>
              <a:t>[10]</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Z</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L</a:t>
            </a:r>
            <a:r>
              <a:rPr lang="en-US" sz="2609" spc="10">
                <a:solidFill>
                  <a:srgbClr val="F7F7F7"/>
                </a:solidFill>
                <a:latin typeface="Barlow"/>
                <a:ea typeface="Barlow"/>
                <a:cs typeface="Barlow"/>
                <a:sym typeface="Barlow"/>
              </a:rPr>
              <a:t>i, </a:t>
            </a:r>
            <a:r>
              <a:rPr lang="en-US" sz="2609" spc="10">
                <a:solidFill>
                  <a:srgbClr val="F7F7F7"/>
                </a:solidFill>
                <a:latin typeface="Barlow"/>
                <a:ea typeface="Barlow"/>
                <a:cs typeface="Barlow"/>
                <a:sym typeface="Barlow"/>
              </a:rPr>
              <a:t>"O</a:t>
            </a:r>
            <a:r>
              <a:rPr lang="en-US" sz="2609" spc="10">
                <a:solidFill>
                  <a:srgbClr val="F7F7F7"/>
                </a:solidFill>
                <a:latin typeface="Barlow"/>
                <a:ea typeface="Barlow"/>
                <a:cs typeface="Barlow"/>
                <a:sym typeface="Barlow"/>
              </a:rPr>
              <a:t>pport</a:t>
            </a:r>
            <a:r>
              <a:rPr lang="en-US" sz="2609" spc="10">
                <a:solidFill>
                  <a:srgbClr val="F7F7F7"/>
                </a:solidFill>
                <a:latin typeface="Barlow"/>
                <a:ea typeface="Barlow"/>
                <a:cs typeface="Barlow"/>
                <a:sym typeface="Barlow"/>
              </a:rPr>
              <a:t>uni</a:t>
            </a:r>
            <a:r>
              <a:rPr lang="en-US" sz="2609" spc="10">
                <a:solidFill>
                  <a:srgbClr val="F7F7F7"/>
                </a:solidFill>
                <a:latin typeface="Barlow"/>
                <a:ea typeface="Barlow"/>
                <a:cs typeface="Barlow"/>
                <a:sym typeface="Barlow"/>
              </a:rPr>
              <a:t>tie</a:t>
            </a:r>
            <a:r>
              <a:rPr lang="en-US" sz="2609" spc="10">
                <a:solidFill>
                  <a:srgbClr val="F7F7F7"/>
                </a:solidFill>
                <a:latin typeface="Barlow"/>
                <a:ea typeface="Barlow"/>
                <a:cs typeface="Barlow"/>
                <a:sym typeface="Barlow"/>
              </a:rPr>
              <a:t>s</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a</a:t>
            </a:r>
            <a:r>
              <a:rPr lang="en-US" sz="2609" spc="10">
                <a:solidFill>
                  <a:srgbClr val="F7F7F7"/>
                </a:solidFill>
                <a:latin typeface="Barlow"/>
                <a:ea typeface="Barlow"/>
                <a:cs typeface="Barlow"/>
                <a:sym typeface="Barlow"/>
              </a:rPr>
              <a:t>nd </a:t>
            </a:r>
            <a:r>
              <a:rPr lang="en-US" sz="2609" spc="10">
                <a:solidFill>
                  <a:srgbClr val="F7F7F7"/>
                </a:solidFill>
                <a:latin typeface="Barlow"/>
                <a:ea typeface="Barlow"/>
                <a:cs typeface="Barlow"/>
                <a:sym typeface="Barlow"/>
              </a:rPr>
              <a:t>Ch</a:t>
            </a:r>
            <a:r>
              <a:rPr lang="en-US" sz="2609" spc="10">
                <a:solidFill>
                  <a:srgbClr val="F7F7F7"/>
                </a:solidFill>
                <a:latin typeface="Barlow"/>
                <a:ea typeface="Barlow"/>
                <a:cs typeface="Barlow"/>
                <a:sym typeface="Barlow"/>
              </a:rPr>
              <a:t>al</a:t>
            </a:r>
            <a:r>
              <a:rPr lang="en-US" sz="2609" spc="10">
                <a:solidFill>
                  <a:srgbClr val="F7F7F7"/>
                </a:solidFill>
                <a:latin typeface="Barlow"/>
                <a:ea typeface="Barlow"/>
                <a:cs typeface="Barlow"/>
                <a:sym typeface="Barlow"/>
              </a:rPr>
              <a:t>l</a:t>
            </a:r>
            <a:r>
              <a:rPr lang="en-US" sz="2609" spc="10">
                <a:solidFill>
                  <a:srgbClr val="F7F7F7"/>
                </a:solidFill>
                <a:latin typeface="Barlow"/>
                <a:ea typeface="Barlow"/>
                <a:cs typeface="Barlow"/>
                <a:sym typeface="Barlow"/>
              </a:rPr>
              <a:t>e</a:t>
            </a:r>
            <a:r>
              <a:rPr lang="en-US" sz="2609" spc="10">
                <a:solidFill>
                  <a:srgbClr val="F7F7F7"/>
                </a:solidFill>
                <a:latin typeface="Barlow"/>
                <a:ea typeface="Barlow"/>
                <a:cs typeface="Barlow"/>
                <a:sym typeface="Barlow"/>
              </a:rPr>
              <a:t>nges</a:t>
            </a:r>
            <a:r>
              <a:rPr lang="en-US" sz="2609" spc="10">
                <a:solidFill>
                  <a:srgbClr val="F7F7F7"/>
                </a:solidFill>
                <a:latin typeface="Barlow"/>
                <a:ea typeface="Barlow"/>
                <a:cs typeface="Barlow"/>
                <a:sym typeface="Barlow"/>
              </a:rPr>
              <a:t> o</a:t>
            </a:r>
            <a:r>
              <a:rPr lang="en-US" sz="2609" spc="10">
                <a:solidFill>
                  <a:srgbClr val="F7F7F7"/>
                </a:solidFill>
                <a:latin typeface="Barlow"/>
                <a:ea typeface="Barlow"/>
                <a:cs typeface="Barlow"/>
                <a:sym typeface="Barlow"/>
              </a:rPr>
              <a:t>f</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Ar</a:t>
            </a:r>
            <a:r>
              <a:rPr lang="en-US" sz="2609" spc="10">
                <a:solidFill>
                  <a:srgbClr val="F7F7F7"/>
                </a:solidFill>
                <a:latin typeface="Barlow"/>
                <a:ea typeface="Barlow"/>
                <a:cs typeface="Barlow"/>
                <a:sym typeface="Barlow"/>
              </a:rPr>
              <a:t>t</a:t>
            </a:r>
            <a:r>
              <a:rPr lang="en-US" sz="2609" spc="10">
                <a:solidFill>
                  <a:srgbClr val="F7F7F7"/>
                </a:solidFill>
                <a:latin typeface="Barlow"/>
                <a:ea typeface="Barlow"/>
                <a:cs typeface="Barlow"/>
                <a:sym typeface="Barlow"/>
              </a:rPr>
              <a:t>ifici</a:t>
            </a:r>
            <a:r>
              <a:rPr lang="en-US" sz="2609" spc="10">
                <a:solidFill>
                  <a:srgbClr val="F7F7F7"/>
                </a:solidFill>
                <a:latin typeface="Barlow"/>
                <a:ea typeface="Barlow"/>
                <a:cs typeface="Barlow"/>
                <a:sym typeface="Barlow"/>
              </a:rPr>
              <a:t>al </a:t>
            </a:r>
            <a:r>
              <a:rPr lang="en-US" sz="2609" spc="10">
                <a:solidFill>
                  <a:srgbClr val="F7F7F7"/>
                </a:solidFill>
                <a:latin typeface="Barlow"/>
                <a:ea typeface="Barlow"/>
                <a:cs typeface="Barlow"/>
                <a:sym typeface="Barlow"/>
              </a:rPr>
              <a:t>Int</a:t>
            </a:r>
            <a:r>
              <a:rPr lang="en-US" sz="2609" spc="10">
                <a:solidFill>
                  <a:srgbClr val="F7F7F7"/>
                </a:solidFill>
                <a:latin typeface="Barlow"/>
                <a:ea typeface="Barlow"/>
                <a:cs typeface="Barlow"/>
                <a:sym typeface="Barlow"/>
              </a:rPr>
              <a:t>e</a:t>
            </a:r>
            <a:r>
              <a:rPr lang="en-US" sz="2609" spc="10">
                <a:solidFill>
                  <a:srgbClr val="F7F7F7"/>
                </a:solidFill>
                <a:latin typeface="Barlow"/>
                <a:ea typeface="Barlow"/>
                <a:cs typeface="Barlow"/>
                <a:sym typeface="Barlow"/>
              </a:rPr>
              <a:t>ll</a:t>
            </a:r>
            <a:r>
              <a:rPr lang="en-US" sz="2609" spc="10">
                <a:solidFill>
                  <a:srgbClr val="F7F7F7"/>
                </a:solidFill>
                <a:latin typeface="Barlow"/>
                <a:ea typeface="Barlow"/>
                <a:cs typeface="Barlow"/>
                <a:sym typeface="Barlow"/>
              </a:rPr>
              <a:t>ige</a:t>
            </a:r>
            <a:r>
              <a:rPr lang="en-US" sz="2609" spc="10">
                <a:solidFill>
                  <a:srgbClr val="F7F7F7"/>
                </a:solidFill>
                <a:latin typeface="Barlow"/>
                <a:ea typeface="Barlow"/>
                <a:cs typeface="Barlow"/>
                <a:sym typeface="Barlow"/>
              </a:rPr>
              <a:t>nce</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E</a:t>
            </a:r>
            <a:r>
              <a:rPr lang="en-US" sz="2609" spc="10">
                <a:solidFill>
                  <a:srgbClr val="F7F7F7"/>
                </a:solidFill>
                <a:latin typeface="Barlow"/>
                <a:ea typeface="Barlow"/>
                <a:cs typeface="Barlow"/>
                <a:sym typeface="Barlow"/>
              </a:rPr>
              <a:t>na</a:t>
            </a:r>
            <a:r>
              <a:rPr lang="en-US" sz="2609" spc="10">
                <a:solidFill>
                  <a:srgbClr val="F7F7F7"/>
                </a:solidFill>
                <a:latin typeface="Barlow"/>
                <a:ea typeface="Barlow"/>
                <a:cs typeface="Barlow"/>
                <a:sym typeface="Barlow"/>
              </a:rPr>
              <a:t>bl</a:t>
            </a:r>
            <a:r>
              <a:rPr lang="en-US" sz="2609" spc="10">
                <a:solidFill>
                  <a:srgbClr val="F7F7F7"/>
                </a:solidFill>
                <a:latin typeface="Barlow"/>
                <a:ea typeface="Barlow"/>
                <a:cs typeface="Barlow"/>
                <a:sym typeface="Barlow"/>
              </a:rPr>
              <a:t>in</a:t>
            </a:r>
            <a:r>
              <a:rPr lang="en-US" sz="2609" spc="10">
                <a:solidFill>
                  <a:srgbClr val="F7F7F7"/>
                </a:solidFill>
                <a:latin typeface="Barlow"/>
                <a:ea typeface="Barlow"/>
                <a:cs typeface="Barlow"/>
                <a:sym typeface="Barlow"/>
              </a:rPr>
              <a:t>g</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Mu</a:t>
            </a:r>
            <a:r>
              <a:rPr lang="en-US" sz="2609" spc="10">
                <a:solidFill>
                  <a:srgbClr val="F7F7F7"/>
                </a:solidFill>
                <a:latin typeface="Barlow"/>
                <a:ea typeface="Barlow"/>
                <a:cs typeface="Barlow"/>
                <a:sym typeface="Barlow"/>
              </a:rPr>
              <a:t>s</a:t>
            </a:r>
            <a:r>
              <a:rPr lang="en-US" sz="2609" spc="10">
                <a:solidFill>
                  <a:srgbClr val="F7F7F7"/>
                </a:solidFill>
                <a:latin typeface="Barlow"/>
                <a:ea typeface="Barlow"/>
                <a:cs typeface="Barlow"/>
                <a:sym typeface="Barlow"/>
              </a:rPr>
              <a:t>eum Buil</a:t>
            </a:r>
            <a:r>
              <a:rPr lang="en-US" sz="2609" spc="10">
                <a:solidFill>
                  <a:srgbClr val="F7F7F7"/>
                </a:solidFill>
                <a:latin typeface="Barlow"/>
                <a:ea typeface="Barlow"/>
                <a:cs typeface="Barlow"/>
                <a:sym typeface="Barlow"/>
              </a:rPr>
              <a:t>di</a:t>
            </a:r>
            <a:r>
              <a:rPr lang="en-US" sz="2609" spc="10">
                <a:solidFill>
                  <a:srgbClr val="F7F7F7"/>
                </a:solidFill>
                <a:latin typeface="Barlow"/>
                <a:ea typeface="Barlow"/>
                <a:cs typeface="Barlow"/>
                <a:sym typeface="Barlow"/>
              </a:rPr>
              <a:t>n</a:t>
            </a:r>
            <a:r>
              <a:rPr lang="en-US" sz="2609" spc="10">
                <a:solidFill>
                  <a:srgbClr val="F7F7F7"/>
                </a:solidFill>
                <a:latin typeface="Barlow"/>
                <a:ea typeface="Barlow"/>
                <a:cs typeface="Barlow"/>
                <a:sym typeface="Barlow"/>
              </a:rPr>
              <a:t>g</a:t>
            </a:r>
            <a:r>
              <a:rPr lang="en-US" sz="2609" spc="10">
                <a:solidFill>
                  <a:srgbClr val="F7F7F7"/>
                </a:solidFill>
                <a:latin typeface="Barlow"/>
                <a:ea typeface="Barlow"/>
                <a:cs typeface="Barlow"/>
                <a:sym typeface="Barlow"/>
              </a:rPr>
              <a:t>," Appl</a:t>
            </a:r>
            <a:r>
              <a:rPr lang="en-US" sz="2609" spc="10">
                <a:solidFill>
                  <a:srgbClr val="F7F7F7"/>
                </a:solidFill>
                <a:latin typeface="Barlow"/>
                <a:ea typeface="Barlow"/>
                <a:cs typeface="Barlow"/>
                <a:sym typeface="Barlow"/>
              </a:rPr>
              <a:t>i</a:t>
            </a:r>
            <a:r>
              <a:rPr lang="en-US" sz="2609" spc="10">
                <a:solidFill>
                  <a:srgbClr val="F7F7F7"/>
                </a:solidFill>
                <a:latin typeface="Barlow"/>
                <a:ea typeface="Barlow"/>
                <a:cs typeface="Barlow"/>
                <a:sym typeface="Barlow"/>
              </a:rPr>
              <a:t>ed Ma</a:t>
            </a:r>
            <a:r>
              <a:rPr lang="en-US" sz="2609" spc="10">
                <a:solidFill>
                  <a:srgbClr val="F7F7F7"/>
                </a:solidFill>
                <a:latin typeface="Barlow"/>
                <a:ea typeface="Barlow"/>
                <a:cs typeface="Barlow"/>
                <a:sym typeface="Barlow"/>
              </a:rPr>
              <a:t>t</a:t>
            </a:r>
            <a:r>
              <a:rPr lang="en-US" sz="2609" spc="10">
                <a:solidFill>
                  <a:srgbClr val="F7F7F7"/>
                </a:solidFill>
                <a:latin typeface="Barlow"/>
                <a:ea typeface="Barlow"/>
                <a:cs typeface="Barlow"/>
                <a:sym typeface="Barlow"/>
              </a:rPr>
              <a:t>hem</a:t>
            </a:r>
            <a:r>
              <a:rPr lang="en-US" sz="2609" spc="10">
                <a:solidFill>
                  <a:srgbClr val="F7F7F7"/>
                </a:solidFill>
                <a:latin typeface="Barlow"/>
                <a:ea typeface="Barlow"/>
                <a:cs typeface="Barlow"/>
                <a:sym typeface="Barlow"/>
              </a:rPr>
              <a:t>a</a:t>
            </a:r>
            <a:r>
              <a:rPr lang="en-US" sz="2609" spc="10">
                <a:solidFill>
                  <a:srgbClr val="F7F7F7"/>
                </a:solidFill>
                <a:latin typeface="Barlow"/>
                <a:ea typeface="Barlow"/>
                <a:cs typeface="Barlow"/>
                <a:sym typeface="Barlow"/>
              </a:rPr>
              <a:t>t</a:t>
            </a:r>
            <a:r>
              <a:rPr lang="en-US" sz="2609" spc="10">
                <a:solidFill>
                  <a:srgbClr val="F7F7F7"/>
                </a:solidFill>
                <a:latin typeface="Barlow"/>
                <a:ea typeface="Barlow"/>
                <a:cs typeface="Barlow"/>
                <a:sym typeface="Barlow"/>
              </a:rPr>
              <a:t>i</a:t>
            </a:r>
            <a:r>
              <a:rPr lang="en-US" sz="2609" spc="10">
                <a:solidFill>
                  <a:srgbClr val="F7F7F7"/>
                </a:solidFill>
                <a:latin typeface="Barlow"/>
                <a:ea typeface="Barlow"/>
                <a:cs typeface="Barlow"/>
                <a:sym typeface="Barlow"/>
              </a:rPr>
              <a:t>c</a:t>
            </a:r>
            <a:r>
              <a:rPr lang="en-US" sz="2609" spc="10">
                <a:solidFill>
                  <a:srgbClr val="F7F7F7"/>
                </a:solidFill>
                <a:latin typeface="Barlow"/>
                <a:ea typeface="Barlow"/>
                <a:cs typeface="Barlow"/>
                <a:sym typeface="Barlow"/>
              </a:rPr>
              <a:t>s a</a:t>
            </a:r>
            <a:r>
              <a:rPr lang="en-US" sz="2609" spc="10">
                <a:solidFill>
                  <a:srgbClr val="F7F7F7"/>
                </a:solidFill>
                <a:latin typeface="Barlow"/>
                <a:ea typeface="Barlow"/>
                <a:cs typeface="Barlow"/>
                <a:sym typeface="Barlow"/>
              </a:rPr>
              <a:t>nd Nonline</a:t>
            </a:r>
            <a:r>
              <a:rPr lang="en-US" sz="2609" spc="10">
                <a:solidFill>
                  <a:srgbClr val="F7F7F7"/>
                </a:solidFill>
                <a:latin typeface="Barlow"/>
                <a:ea typeface="Barlow"/>
                <a:cs typeface="Barlow"/>
                <a:sym typeface="Barlow"/>
              </a:rPr>
              <a:t>a</a:t>
            </a:r>
            <a:r>
              <a:rPr lang="en-US" sz="2609" spc="10">
                <a:solidFill>
                  <a:srgbClr val="F7F7F7"/>
                </a:solidFill>
                <a:latin typeface="Barlow"/>
                <a:ea typeface="Barlow"/>
                <a:cs typeface="Barlow"/>
                <a:sym typeface="Barlow"/>
              </a:rPr>
              <a:t>r Sc</a:t>
            </a:r>
            <a:r>
              <a:rPr lang="en-US" sz="2609" spc="10">
                <a:solidFill>
                  <a:srgbClr val="F7F7F7"/>
                </a:solidFill>
                <a:latin typeface="Barlow"/>
                <a:ea typeface="Barlow"/>
                <a:cs typeface="Barlow"/>
                <a:sym typeface="Barlow"/>
              </a:rPr>
              <a:t>i</a:t>
            </a:r>
            <a:r>
              <a:rPr lang="en-US" sz="2609" spc="10">
                <a:solidFill>
                  <a:srgbClr val="F7F7F7"/>
                </a:solidFill>
                <a:latin typeface="Barlow"/>
                <a:ea typeface="Barlow"/>
                <a:cs typeface="Barlow"/>
                <a:sym typeface="Barlow"/>
              </a:rPr>
              <a:t>ence</a:t>
            </a:r>
            <a:r>
              <a:rPr lang="en-US" sz="2609" spc="10">
                <a:solidFill>
                  <a:srgbClr val="F7F7F7"/>
                </a:solidFill>
                <a:latin typeface="Barlow"/>
                <a:ea typeface="Barlow"/>
                <a:cs typeface="Barlow"/>
                <a:sym typeface="Barlow"/>
              </a:rPr>
              <a:t>s, </a:t>
            </a:r>
            <a:r>
              <a:rPr lang="en-US" sz="2609" spc="10">
                <a:solidFill>
                  <a:srgbClr val="F7F7F7"/>
                </a:solidFill>
                <a:latin typeface="Barlow"/>
                <a:ea typeface="Barlow"/>
                <a:cs typeface="Barlow"/>
                <a:sym typeface="Barlow"/>
              </a:rPr>
              <a:t>2024</a:t>
            </a:r>
            <a:r>
              <a:rPr lang="en-US" sz="2609" spc="10">
                <a:solidFill>
                  <a:srgbClr val="F7F7F7"/>
                </a:solidFill>
                <a:latin typeface="Barlow"/>
                <a:ea typeface="Barlow"/>
                <a:cs typeface="Barlow"/>
                <a:sym typeface="Barlow"/>
              </a:rPr>
              <a:t>.</a:t>
            </a:r>
          </a:p>
          <a:p>
            <a:pPr algn="ctr">
              <a:lnSpc>
                <a:spcPts val="3653"/>
              </a:lnSpc>
              <a:spcBef>
                <a:spcPct val="0"/>
              </a:spcBef>
            </a:pPr>
          </a:p>
          <a:p>
            <a:pPr algn="ctr">
              <a:lnSpc>
                <a:spcPts val="3653"/>
              </a:lnSpc>
              <a:spcBef>
                <a:spcPct val="0"/>
              </a:spcBef>
            </a:pPr>
            <a:r>
              <a:rPr lang="en-US" sz="2609" spc="10">
                <a:solidFill>
                  <a:srgbClr val="F7F7F7"/>
                </a:solidFill>
                <a:latin typeface="Barlow"/>
                <a:ea typeface="Barlow"/>
                <a:cs typeface="Barlow"/>
                <a:sym typeface="Barlow"/>
              </a:rPr>
              <a:t>[11]</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Y.</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L</a:t>
            </a:r>
            <a:r>
              <a:rPr lang="en-US" sz="2609" spc="10">
                <a:solidFill>
                  <a:srgbClr val="F7F7F7"/>
                </a:solidFill>
                <a:latin typeface="Barlow"/>
                <a:ea typeface="Barlow"/>
                <a:cs typeface="Barlow"/>
                <a:sym typeface="Barlow"/>
              </a:rPr>
              <a:t>i</a:t>
            </a:r>
            <a:r>
              <a:rPr lang="en-US" sz="2609" spc="10">
                <a:solidFill>
                  <a:srgbClr val="F7F7F7"/>
                </a:solidFill>
                <a:latin typeface="Barlow"/>
                <a:ea typeface="Barlow"/>
                <a:cs typeface="Barlow"/>
                <a:sym typeface="Barlow"/>
              </a:rPr>
              <a:t>n</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W</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Zhang, and J</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L</a:t>
            </a:r>
            <a:r>
              <a:rPr lang="en-US" sz="2609" spc="10">
                <a:solidFill>
                  <a:srgbClr val="F7F7F7"/>
                </a:solidFill>
                <a:latin typeface="Barlow"/>
                <a:ea typeface="Barlow"/>
                <a:cs typeface="Barlow"/>
                <a:sym typeface="Barlow"/>
              </a:rPr>
              <a:t>i</a:t>
            </a:r>
            <a:r>
              <a:rPr lang="en-US" sz="2609" spc="10">
                <a:solidFill>
                  <a:srgbClr val="F7F7F7"/>
                </a:solidFill>
                <a:latin typeface="Barlow"/>
                <a:ea typeface="Barlow"/>
                <a:cs typeface="Barlow"/>
                <a:sym typeface="Barlow"/>
              </a:rPr>
              <a:t>n, "Ques</a:t>
            </a:r>
            <a:r>
              <a:rPr lang="en-US" sz="2609" spc="10">
                <a:solidFill>
                  <a:srgbClr val="F7F7F7"/>
                </a:solidFill>
                <a:latin typeface="Barlow"/>
                <a:ea typeface="Barlow"/>
                <a:cs typeface="Barlow"/>
                <a:sym typeface="Barlow"/>
              </a:rPr>
              <a:t>ti</a:t>
            </a:r>
            <a:r>
              <a:rPr lang="en-US" sz="2609" spc="10">
                <a:solidFill>
                  <a:srgbClr val="F7F7F7"/>
                </a:solidFill>
                <a:latin typeface="Barlow"/>
                <a:ea typeface="Barlow"/>
                <a:cs typeface="Barlow"/>
                <a:sym typeface="Barlow"/>
              </a:rPr>
              <a:t>o</a:t>
            </a:r>
            <a:r>
              <a:rPr lang="en-US" sz="2609" spc="10">
                <a:solidFill>
                  <a:srgbClr val="F7F7F7"/>
                </a:solidFill>
                <a:latin typeface="Barlow"/>
                <a:ea typeface="Barlow"/>
                <a:cs typeface="Barlow"/>
                <a:sym typeface="Barlow"/>
              </a:rPr>
              <a:t>n An</a:t>
            </a:r>
            <a:r>
              <a:rPr lang="en-US" sz="2609" spc="10">
                <a:solidFill>
                  <a:srgbClr val="F7F7F7"/>
                </a:solidFill>
                <a:latin typeface="Barlow"/>
                <a:ea typeface="Barlow"/>
                <a:cs typeface="Barlow"/>
                <a:sym typeface="Barlow"/>
              </a:rPr>
              <a:t>swering</a:t>
            </a:r>
            <a:r>
              <a:rPr lang="en-US" sz="2609" spc="10">
                <a:solidFill>
                  <a:srgbClr val="F7F7F7"/>
                </a:solidFill>
                <a:latin typeface="Barlow"/>
                <a:ea typeface="Barlow"/>
                <a:cs typeface="Barlow"/>
                <a:sym typeface="Barlow"/>
              </a:rPr>
              <a:t> S</a:t>
            </a:r>
            <a:r>
              <a:rPr lang="en-US" sz="2609" spc="10">
                <a:solidFill>
                  <a:srgbClr val="F7F7F7"/>
                </a:solidFill>
                <a:latin typeface="Barlow"/>
                <a:ea typeface="Barlow"/>
                <a:cs typeface="Barlow"/>
                <a:sym typeface="Barlow"/>
              </a:rPr>
              <a:t>yst</a:t>
            </a:r>
            <a:r>
              <a:rPr lang="en-US" sz="2609" spc="10">
                <a:solidFill>
                  <a:srgbClr val="F7F7F7"/>
                </a:solidFill>
                <a:latin typeface="Barlow"/>
                <a:ea typeface="Barlow"/>
                <a:cs typeface="Barlow"/>
                <a:sym typeface="Barlow"/>
              </a:rPr>
              <a:t>em</a:t>
            </a:r>
            <a:r>
              <a:rPr lang="en-US" sz="2609" spc="10">
                <a:solidFill>
                  <a:srgbClr val="F7F7F7"/>
                </a:solidFill>
                <a:latin typeface="Barlow"/>
                <a:ea typeface="Barlow"/>
                <a:cs typeface="Barlow"/>
                <a:sym typeface="Barlow"/>
              </a:rPr>
              <a:t> B</a:t>
            </a:r>
            <a:r>
              <a:rPr lang="en-US" sz="2609" spc="10">
                <a:solidFill>
                  <a:srgbClr val="F7F7F7"/>
                </a:solidFill>
                <a:latin typeface="Barlow"/>
                <a:ea typeface="Barlow"/>
                <a:cs typeface="Barlow"/>
                <a:sym typeface="Barlow"/>
              </a:rPr>
              <a:t>as</a:t>
            </a:r>
            <a:r>
              <a:rPr lang="en-US" sz="2609" spc="10">
                <a:solidFill>
                  <a:srgbClr val="F7F7F7"/>
                </a:solidFill>
                <a:latin typeface="Barlow"/>
                <a:ea typeface="Barlow"/>
                <a:cs typeface="Barlow"/>
                <a:sym typeface="Barlow"/>
              </a:rPr>
              <a:t>ed</a:t>
            </a:r>
            <a:r>
              <a:rPr lang="en-US" sz="2609" spc="10">
                <a:solidFill>
                  <a:srgbClr val="F7F7F7"/>
                </a:solidFill>
                <a:latin typeface="Barlow"/>
                <a:ea typeface="Barlow"/>
                <a:cs typeface="Barlow"/>
                <a:sym typeface="Barlow"/>
              </a:rPr>
              <a:t> on </a:t>
            </a:r>
            <a:r>
              <a:rPr lang="en-US" sz="2609" spc="10">
                <a:solidFill>
                  <a:srgbClr val="F7F7F7"/>
                </a:solidFill>
                <a:latin typeface="Barlow"/>
                <a:ea typeface="Barlow"/>
                <a:cs typeface="Barlow"/>
                <a:sym typeface="Barlow"/>
              </a:rPr>
              <a:t>Re</a:t>
            </a:r>
            <a:r>
              <a:rPr lang="en-US" sz="2609" spc="10">
                <a:solidFill>
                  <a:srgbClr val="F7F7F7"/>
                </a:solidFill>
                <a:latin typeface="Barlow"/>
                <a:ea typeface="Barlow"/>
                <a:cs typeface="Barlow"/>
                <a:sym typeface="Barlow"/>
              </a:rPr>
              <a:t>t</a:t>
            </a:r>
            <a:r>
              <a:rPr lang="en-US" sz="2609" spc="10">
                <a:solidFill>
                  <a:srgbClr val="F7F7F7"/>
                </a:solidFill>
                <a:latin typeface="Barlow"/>
                <a:ea typeface="Barlow"/>
                <a:cs typeface="Barlow"/>
                <a:sym typeface="Barlow"/>
              </a:rPr>
              <a:t>r</a:t>
            </a:r>
            <a:r>
              <a:rPr lang="en-US" sz="2609" spc="10">
                <a:solidFill>
                  <a:srgbClr val="F7F7F7"/>
                </a:solidFill>
                <a:latin typeface="Barlow"/>
                <a:ea typeface="Barlow"/>
                <a:cs typeface="Barlow"/>
                <a:sym typeface="Barlow"/>
              </a:rPr>
              <a:t>ie</a:t>
            </a:r>
            <a:r>
              <a:rPr lang="en-US" sz="2609" spc="10">
                <a:solidFill>
                  <a:srgbClr val="F7F7F7"/>
                </a:solidFill>
                <a:latin typeface="Barlow"/>
                <a:ea typeface="Barlow"/>
                <a:cs typeface="Barlow"/>
                <a:sym typeface="Barlow"/>
              </a:rPr>
              <a:t>v</a:t>
            </a:r>
            <a:r>
              <a:rPr lang="en-US" sz="2609" spc="10">
                <a:solidFill>
                  <a:srgbClr val="F7F7F7"/>
                </a:solidFill>
                <a:latin typeface="Barlow"/>
                <a:ea typeface="Barlow"/>
                <a:cs typeface="Barlow"/>
                <a:sym typeface="Barlow"/>
              </a:rPr>
              <a:t>al</a:t>
            </a:r>
            <a:r>
              <a:rPr lang="en-US" sz="2609" spc="10">
                <a:solidFill>
                  <a:srgbClr val="F7F7F7"/>
                </a:solidFill>
                <a:latin typeface="Barlow"/>
                <a:ea typeface="Barlow"/>
                <a:cs typeface="Barlow"/>
                <a:sym typeface="Barlow"/>
              </a:rPr>
              <a:t>-A</a:t>
            </a:r>
            <a:r>
              <a:rPr lang="en-US" sz="2609" spc="10">
                <a:solidFill>
                  <a:srgbClr val="F7F7F7"/>
                </a:solidFill>
                <a:latin typeface="Barlow"/>
                <a:ea typeface="Barlow"/>
                <a:cs typeface="Barlow"/>
                <a:sym typeface="Barlow"/>
              </a:rPr>
              <a:t>u</a:t>
            </a:r>
            <a:r>
              <a:rPr lang="en-US" sz="2609" spc="10">
                <a:solidFill>
                  <a:srgbClr val="F7F7F7"/>
                </a:solidFill>
                <a:latin typeface="Barlow"/>
                <a:ea typeface="Barlow"/>
                <a:cs typeface="Barlow"/>
                <a:sym typeface="Barlow"/>
              </a:rPr>
              <a:t>g</a:t>
            </a:r>
            <a:r>
              <a:rPr lang="en-US" sz="2609" spc="10">
                <a:solidFill>
                  <a:srgbClr val="F7F7F7"/>
                </a:solidFill>
                <a:latin typeface="Barlow"/>
                <a:ea typeface="Barlow"/>
                <a:cs typeface="Barlow"/>
                <a:sym typeface="Barlow"/>
              </a:rPr>
              <a:t>m</a:t>
            </a:r>
            <a:r>
              <a:rPr lang="en-US" sz="2609" spc="10">
                <a:solidFill>
                  <a:srgbClr val="F7F7F7"/>
                </a:solidFill>
                <a:latin typeface="Barlow"/>
                <a:ea typeface="Barlow"/>
                <a:cs typeface="Barlow"/>
                <a:sym typeface="Barlow"/>
              </a:rPr>
              <a:t>en</a:t>
            </a:r>
            <a:r>
              <a:rPr lang="en-US" sz="2609" spc="10">
                <a:solidFill>
                  <a:srgbClr val="F7F7F7"/>
                </a:solidFill>
                <a:latin typeface="Barlow"/>
                <a:ea typeface="Barlow"/>
                <a:cs typeface="Barlow"/>
                <a:sym typeface="Barlow"/>
              </a:rPr>
              <a:t>t</a:t>
            </a:r>
            <a:r>
              <a:rPr lang="en-US" sz="2609" spc="10">
                <a:solidFill>
                  <a:srgbClr val="F7F7F7"/>
                </a:solidFill>
                <a:latin typeface="Barlow"/>
                <a:ea typeface="Barlow"/>
                <a:cs typeface="Barlow"/>
                <a:sym typeface="Barlow"/>
              </a:rPr>
              <a:t>ed</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Ge</a:t>
            </a:r>
            <a:r>
              <a:rPr lang="en-US" sz="2609" spc="10">
                <a:solidFill>
                  <a:srgbClr val="F7F7F7"/>
                </a:solidFill>
                <a:latin typeface="Barlow"/>
                <a:ea typeface="Barlow"/>
                <a:cs typeface="Barlow"/>
                <a:sym typeface="Barlow"/>
              </a:rPr>
              <a:t>neration</a:t>
            </a:r>
            <a:r>
              <a:rPr lang="en-US" sz="2609" spc="10">
                <a:solidFill>
                  <a:srgbClr val="F7F7F7"/>
                </a:solidFill>
                <a:latin typeface="Barlow"/>
                <a:ea typeface="Barlow"/>
                <a:cs typeface="Barlow"/>
                <a:sym typeface="Barlow"/>
              </a:rPr>
              <a:t>,"</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P</a:t>
            </a:r>
            <a:r>
              <a:rPr lang="en-US" sz="2609" spc="10">
                <a:solidFill>
                  <a:srgbClr val="F7F7F7"/>
                </a:solidFill>
                <a:latin typeface="Barlow"/>
                <a:ea typeface="Barlow"/>
                <a:cs typeface="Barlow"/>
                <a:sym typeface="Barlow"/>
              </a:rPr>
              <a:t>ro</a:t>
            </a:r>
            <a:r>
              <a:rPr lang="en-US" sz="2609" spc="10">
                <a:solidFill>
                  <a:srgbClr val="F7F7F7"/>
                </a:solidFill>
                <a:latin typeface="Barlow"/>
                <a:ea typeface="Barlow"/>
                <a:cs typeface="Barlow"/>
                <a:sym typeface="Barlow"/>
              </a:rPr>
              <a:t>c.</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ACM Int. C</a:t>
            </a:r>
            <a:r>
              <a:rPr lang="en-US" sz="2609" spc="10">
                <a:solidFill>
                  <a:srgbClr val="F7F7F7"/>
                </a:solidFill>
                <a:latin typeface="Barlow"/>
                <a:ea typeface="Barlow"/>
                <a:cs typeface="Barlow"/>
                <a:sym typeface="Barlow"/>
              </a:rPr>
              <a:t>on</a:t>
            </a:r>
            <a:r>
              <a:rPr lang="en-US" sz="2609" spc="10">
                <a:solidFill>
                  <a:srgbClr val="F7F7F7"/>
                </a:solidFill>
                <a:latin typeface="Barlow"/>
                <a:ea typeface="Barlow"/>
                <a:cs typeface="Barlow"/>
                <a:sym typeface="Barlow"/>
              </a:rPr>
              <a:t>f.</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on Co</a:t>
            </a:r>
            <a:r>
              <a:rPr lang="en-US" sz="2609" spc="10">
                <a:solidFill>
                  <a:srgbClr val="F7F7F7"/>
                </a:solidFill>
                <a:latin typeface="Barlow"/>
                <a:ea typeface="Barlow"/>
                <a:cs typeface="Barlow"/>
                <a:sym typeface="Barlow"/>
              </a:rPr>
              <a:t>m</a:t>
            </a:r>
            <a:r>
              <a:rPr lang="en-US" sz="2609" spc="10">
                <a:solidFill>
                  <a:srgbClr val="F7F7F7"/>
                </a:solidFill>
                <a:latin typeface="Barlow"/>
                <a:ea typeface="Barlow"/>
                <a:cs typeface="Barlow"/>
                <a:sym typeface="Barlow"/>
              </a:rPr>
              <a:t>pu</a:t>
            </a:r>
            <a:r>
              <a:rPr lang="en-US" sz="2609" spc="10">
                <a:solidFill>
                  <a:srgbClr val="F7F7F7"/>
                </a:solidFill>
                <a:latin typeface="Barlow"/>
                <a:ea typeface="Barlow"/>
                <a:cs typeface="Barlow"/>
                <a:sym typeface="Barlow"/>
              </a:rPr>
              <a:t>t</a:t>
            </a:r>
            <a:r>
              <a:rPr lang="en-US" sz="2609" spc="10">
                <a:solidFill>
                  <a:srgbClr val="F7F7F7"/>
                </a:solidFill>
                <a:latin typeface="Barlow"/>
                <a:ea typeface="Barlow"/>
                <a:cs typeface="Barlow"/>
                <a:sym typeface="Barlow"/>
              </a:rPr>
              <a:t>er</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Tech</a:t>
            </a:r>
            <a:r>
              <a:rPr lang="en-US" sz="2609" spc="10">
                <a:solidFill>
                  <a:srgbClr val="F7F7F7"/>
                </a:solidFill>
                <a:latin typeface="Barlow"/>
                <a:ea typeface="Barlow"/>
                <a:cs typeface="Barlow"/>
                <a:sym typeface="Barlow"/>
              </a:rPr>
              <a:t>n</a:t>
            </a:r>
            <a:r>
              <a:rPr lang="en-US" sz="2609" spc="10">
                <a:solidFill>
                  <a:srgbClr val="F7F7F7"/>
                </a:solidFill>
                <a:latin typeface="Barlow"/>
                <a:ea typeface="Barlow"/>
                <a:cs typeface="Barlow"/>
                <a:sym typeface="Barlow"/>
              </a:rPr>
              <a:t>ol</a:t>
            </a:r>
            <a:r>
              <a:rPr lang="en-US" sz="2609" spc="10">
                <a:solidFill>
                  <a:srgbClr val="F7F7F7"/>
                </a:solidFill>
                <a:latin typeface="Barlow"/>
                <a:ea typeface="Barlow"/>
                <a:cs typeface="Barlow"/>
                <a:sym typeface="Barlow"/>
              </a:rPr>
              <a:t>o</a:t>
            </a:r>
            <a:r>
              <a:rPr lang="en-US" sz="2609" spc="10">
                <a:solidFill>
                  <a:srgbClr val="F7F7F7"/>
                </a:solidFill>
                <a:latin typeface="Barlow"/>
                <a:ea typeface="Barlow"/>
                <a:cs typeface="Barlow"/>
                <a:sym typeface="Barlow"/>
              </a:rPr>
              <a:t>gy, Dig</a:t>
            </a:r>
            <a:r>
              <a:rPr lang="en-US" sz="2609" spc="10">
                <a:solidFill>
                  <a:srgbClr val="F7F7F7"/>
                </a:solidFill>
                <a:latin typeface="Barlow"/>
                <a:ea typeface="Barlow"/>
                <a:cs typeface="Barlow"/>
                <a:sym typeface="Barlow"/>
              </a:rPr>
              <a:t>i</a:t>
            </a:r>
            <a:r>
              <a:rPr lang="en-US" sz="2609" spc="10">
                <a:solidFill>
                  <a:srgbClr val="F7F7F7"/>
                </a:solidFill>
                <a:latin typeface="Barlow"/>
                <a:ea typeface="Barlow"/>
                <a:cs typeface="Barlow"/>
                <a:sym typeface="Barlow"/>
              </a:rPr>
              <a:t>t</a:t>
            </a:r>
            <a:r>
              <a:rPr lang="en-US" sz="2609" spc="10">
                <a:solidFill>
                  <a:srgbClr val="F7F7F7"/>
                </a:solidFill>
                <a:latin typeface="Barlow"/>
                <a:ea typeface="Barlow"/>
                <a:cs typeface="Barlow"/>
                <a:sym typeface="Barlow"/>
              </a:rPr>
              <a:t>al Media </a:t>
            </a:r>
            <a:r>
              <a:rPr lang="en-US" sz="2609" spc="10">
                <a:solidFill>
                  <a:srgbClr val="F7F7F7"/>
                </a:solidFill>
                <a:latin typeface="Barlow"/>
                <a:ea typeface="Barlow"/>
                <a:cs typeface="Barlow"/>
                <a:sym typeface="Barlow"/>
              </a:rPr>
              <a:t>an</a:t>
            </a:r>
            <a:r>
              <a:rPr lang="en-US" sz="2609" spc="10">
                <a:solidFill>
                  <a:srgbClr val="F7F7F7"/>
                </a:solidFill>
                <a:latin typeface="Barlow"/>
                <a:ea typeface="Barlow"/>
                <a:cs typeface="Barlow"/>
                <a:sym typeface="Barlow"/>
              </a:rPr>
              <a:t>d</a:t>
            </a:r>
            <a:r>
              <a:rPr lang="en-US" sz="2609" spc="10">
                <a:solidFill>
                  <a:srgbClr val="F7F7F7"/>
                </a:solidFill>
                <a:latin typeface="Barlow"/>
                <a:ea typeface="Barlow"/>
                <a:cs typeface="Barlow"/>
                <a:sym typeface="Barlow"/>
              </a:rPr>
              <a:t> Communic</a:t>
            </a:r>
            <a:r>
              <a:rPr lang="en-US" sz="2609" spc="10">
                <a:solidFill>
                  <a:srgbClr val="F7F7F7"/>
                </a:solidFill>
                <a:latin typeface="Barlow"/>
                <a:ea typeface="Barlow"/>
                <a:cs typeface="Barlow"/>
                <a:sym typeface="Barlow"/>
              </a:rPr>
              <a:t>ation</a:t>
            </a:r>
            <a:r>
              <a:rPr lang="en-US" sz="2609" spc="10">
                <a:solidFill>
                  <a:srgbClr val="F7F7F7"/>
                </a:solidFill>
                <a:latin typeface="Barlow"/>
                <a:ea typeface="Barlow"/>
                <a:cs typeface="Barlow"/>
                <a:sym typeface="Barlow"/>
              </a:rPr>
              <a:t>,</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2025.</a:t>
            </a:r>
          </a:p>
          <a:p>
            <a:pPr algn="ctr">
              <a:lnSpc>
                <a:spcPts val="3653"/>
              </a:lnSpc>
              <a:spcBef>
                <a:spcPct val="0"/>
              </a:spcBef>
            </a:pPr>
          </a:p>
          <a:p>
            <a:pPr algn="ctr">
              <a:lnSpc>
                <a:spcPts val="3653"/>
              </a:lnSpc>
              <a:spcBef>
                <a:spcPct val="0"/>
              </a:spcBef>
            </a:pPr>
            <a:r>
              <a:rPr lang="en-US" sz="2609" spc="10">
                <a:solidFill>
                  <a:srgbClr val="F7F7F7"/>
                </a:solidFill>
                <a:latin typeface="Barlow"/>
                <a:ea typeface="Barlow"/>
                <a:cs typeface="Barlow"/>
                <a:sym typeface="Barlow"/>
              </a:rPr>
              <a:t>[12]</a:t>
            </a:r>
            <a:r>
              <a:rPr lang="en-US" sz="2609" spc="10">
                <a:solidFill>
                  <a:srgbClr val="F7F7F7"/>
                </a:solidFill>
                <a:latin typeface="Barlow"/>
                <a:ea typeface="Barlow"/>
                <a:cs typeface="Barlow"/>
                <a:sym typeface="Barlow"/>
              </a:rPr>
              <a:t> P</a:t>
            </a:r>
            <a:r>
              <a:rPr lang="en-US" sz="2609" spc="10">
                <a:solidFill>
                  <a:srgbClr val="F7F7F7"/>
                </a:solidFill>
                <a:latin typeface="Barlow"/>
                <a:ea typeface="Barlow"/>
                <a:cs typeface="Barlow"/>
                <a:sym typeface="Barlow"/>
              </a:rPr>
              <a:t>. Zha</a:t>
            </a:r>
            <a:r>
              <a:rPr lang="en-US" sz="2609" spc="10">
                <a:solidFill>
                  <a:srgbClr val="F7F7F7"/>
                </a:solidFill>
                <a:latin typeface="Barlow"/>
                <a:ea typeface="Barlow"/>
                <a:cs typeface="Barlow"/>
                <a:sym typeface="Barlow"/>
              </a:rPr>
              <a:t>o</a:t>
            </a:r>
            <a:r>
              <a:rPr lang="en-US" sz="2609" spc="10">
                <a:solidFill>
                  <a:srgbClr val="F7F7F7"/>
                </a:solidFill>
                <a:latin typeface="Barlow"/>
                <a:ea typeface="Barlow"/>
                <a:cs typeface="Barlow"/>
                <a:sym typeface="Barlow"/>
              </a:rPr>
              <a:t> et </a:t>
            </a:r>
            <a:r>
              <a:rPr lang="en-US" sz="2609" spc="10">
                <a:solidFill>
                  <a:srgbClr val="F7F7F7"/>
                </a:solidFill>
                <a:latin typeface="Barlow"/>
                <a:ea typeface="Barlow"/>
                <a:cs typeface="Barlow"/>
                <a:sym typeface="Barlow"/>
              </a:rPr>
              <a:t>al</a:t>
            </a:r>
            <a:r>
              <a:rPr lang="en-US" sz="2609" spc="10">
                <a:solidFill>
                  <a:srgbClr val="F7F7F7"/>
                </a:solidFill>
                <a:latin typeface="Barlow"/>
                <a:ea typeface="Barlow"/>
                <a:cs typeface="Barlow"/>
                <a:sym typeface="Barlow"/>
              </a:rPr>
              <a:t>., "Retr</a:t>
            </a:r>
            <a:r>
              <a:rPr lang="en-US" sz="2609" spc="10">
                <a:solidFill>
                  <a:srgbClr val="F7F7F7"/>
                </a:solidFill>
                <a:latin typeface="Barlow"/>
                <a:ea typeface="Barlow"/>
                <a:cs typeface="Barlow"/>
                <a:sym typeface="Barlow"/>
              </a:rPr>
              <a:t>i</a:t>
            </a:r>
            <a:r>
              <a:rPr lang="en-US" sz="2609" spc="10">
                <a:solidFill>
                  <a:srgbClr val="F7F7F7"/>
                </a:solidFill>
                <a:latin typeface="Barlow"/>
                <a:ea typeface="Barlow"/>
                <a:cs typeface="Barlow"/>
                <a:sym typeface="Barlow"/>
              </a:rPr>
              <a:t>eval-Augmented Gener</a:t>
            </a:r>
            <a:r>
              <a:rPr lang="en-US" sz="2609" spc="10">
                <a:solidFill>
                  <a:srgbClr val="F7F7F7"/>
                </a:solidFill>
                <a:latin typeface="Barlow"/>
                <a:ea typeface="Barlow"/>
                <a:cs typeface="Barlow"/>
                <a:sym typeface="Barlow"/>
              </a:rPr>
              <a:t>ation </a:t>
            </a:r>
            <a:r>
              <a:rPr lang="en-US" sz="2609" spc="10">
                <a:solidFill>
                  <a:srgbClr val="F7F7F7"/>
                </a:solidFill>
                <a:latin typeface="Barlow"/>
                <a:ea typeface="Barlow"/>
                <a:cs typeface="Barlow"/>
                <a:sym typeface="Barlow"/>
              </a:rPr>
              <a:t>for </a:t>
            </a:r>
            <a:r>
              <a:rPr lang="en-US" sz="2609" spc="10">
                <a:solidFill>
                  <a:srgbClr val="F7F7F7"/>
                </a:solidFill>
                <a:latin typeface="Barlow"/>
                <a:ea typeface="Barlow"/>
                <a:cs typeface="Barlow"/>
                <a:sym typeface="Barlow"/>
              </a:rPr>
              <a:t>A</a:t>
            </a:r>
            <a:r>
              <a:rPr lang="en-US" sz="2609" spc="10">
                <a:solidFill>
                  <a:srgbClr val="F7F7F7"/>
                </a:solidFill>
                <a:latin typeface="Barlow"/>
                <a:ea typeface="Barlow"/>
                <a:cs typeface="Barlow"/>
                <a:sym typeface="Barlow"/>
              </a:rPr>
              <a:t>I</a:t>
            </a:r>
            <a:r>
              <a:rPr lang="en-US" sz="2609" spc="10">
                <a:solidFill>
                  <a:srgbClr val="F7F7F7"/>
                </a:solidFill>
                <a:latin typeface="Barlow"/>
                <a:ea typeface="Barlow"/>
                <a:cs typeface="Barlow"/>
                <a:sym typeface="Barlow"/>
              </a:rPr>
              <a:t>-</a:t>
            </a:r>
            <a:r>
              <a:rPr lang="en-US" sz="2609" spc="10">
                <a:solidFill>
                  <a:srgbClr val="F7F7F7"/>
                </a:solidFill>
                <a:latin typeface="Barlow"/>
                <a:ea typeface="Barlow"/>
                <a:cs typeface="Barlow"/>
                <a:sym typeface="Barlow"/>
              </a:rPr>
              <a:t>Generated</a:t>
            </a:r>
            <a:r>
              <a:rPr lang="en-US" sz="2609" spc="10">
                <a:solidFill>
                  <a:srgbClr val="F7F7F7"/>
                </a:solidFill>
                <a:latin typeface="Barlow"/>
                <a:ea typeface="Barlow"/>
                <a:cs typeface="Barlow"/>
                <a:sym typeface="Barlow"/>
              </a:rPr>
              <a:t> </a:t>
            </a:r>
            <a:r>
              <a:rPr lang="en-US" sz="2609" spc="10">
                <a:solidFill>
                  <a:srgbClr val="F7F7F7"/>
                </a:solidFill>
                <a:latin typeface="Barlow"/>
                <a:ea typeface="Barlow"/>
                <a:cs typeface="Barlow"/>
                <a:sym typeface="Barlow"/>
              </a:rPr>
              <a:t>Con</a:t>
            </a:r>
            <a:r>
              <a:rPr lang="en-US" sz="2609" spc="10">
                <a:solidFill>
                  <a:srgbClr val="F7F7F7"/>
                </a:solidFill>
                <a:latin typeface="Barlow"/>
                <a:ea typeface="Barlow"/>
                <a:cs typeface="Barlow"/>
                <a:sym typeface="Barlow"/>
              </a:rPr>
              <a:t>t</a:t>
            </a:r>
            <a:r>
              <a:rPr lang="en-US" sz="2609" spc="10">
                <a:solidFill>
                  <a:srgbClr val="F7F7F7"/>
                </a:solidFill>
                <a:latin typeface="Barlow"/>
                <a:ea typeface="Barlow"/>
                <a:cs typeface="Barlow"/>
                <a:sym typeface="Barlow"/>
              </a:rPr>
              <a:t>en</a:t>
            </a:r>
            <a:r>
              <a:rPr lang="en-US" sz="2609" spc="10">
                <a:solidFill>
                  <a:srgbClr val="F7F7F7"/>
                </a:solidFill>
                <a:latin typeface="Barlow"/>
                <a:ea typeface="Barlow"/>
                <a:cs typeface="Barlow"/>
                <a:sym typeface="Barlow"/>
              </a:rPr>
              <a:t>t:</a:t>
            </a:r>
            <a:r>
              <a:rPr lang="en-US" sz="2609" spc="10">
                <a:solidFill>
                  <a:srgbClr val="F7F7F7"/>
                </a:solidFill>
                <a:latin typeface="Barlow"/>
                <a:ea typeface="Barlow"/>
                <a:cs typeface="Barlow"/>
                <a:sym typeface="Barlow"/>
              </a:rPr>
              <a:t> A Su</a:t>
            </a:r>
            <a:r>
              <a:rPr lang="en-US" sz="2609" spc="10">
                <a:solidFill>
                  <a:srgbClr val="F7F7F7"/>
                </a:solidFill>
                <a:latin typeface="Barlow"/>
                <a:ea typeface="Barlow"/>
                <a:cs typeface="Barlow"/>
                <a:sym typeface="Barlow"/>
              </a:rPr>
              <a:t>r</a:t>
            </a:r>
            <a:r>
              <a:rPr lang="en-US" sz="2609" spc="10">
                <a:solidFill>
                  <a:srgbClr val="F7F7F7"/>
                </a:solidFill>
                <a:latin typeface="Barlow"/>
                <a:ea typeface="Barlow"/>
                <a:cs typeface="Barlow"/>
                <a:sym typeface="Barlow"/>
              </a:rPr>
              <a:t>vey," </a:t>
            </a:r>
            <a:r>
              <a:rPr lang="en-US" sz="2609" spc="10">
                <a:solidFill>
                  <a:srgbClr val="F7F7F7"/>
                </a:solidFill>
                <a:latin typeface="Barlow"/>
                <a:ea typeface="Barlow"/>
                <a:cs typeface="Barlow"/>
                <a:sym typeface="Barlow"/>
              </a:rPr>
              <a:t>a</a:t>
            </a:r>
            <a:r>
              <a:rPr lang="en-US" sz="2609" spc="10">
                <a:solidFill>
                  <a:srgbClr val="F7F7F7"/>
                </a:solidFill>
                <a:latin typeface="Barlow"/>
                <a:ea typeface="Barlow"/>
                <a:cs typeface="Barlow"/>
                <a:sym typeface="Barlow"/>
              </a:rPr>
              <a:t>rXiv, </a:t>
            </a:r>
            <a:r>
              <a:rPr lang="en-US" sz="2609" spc="10">
                <a:solidFill>
                  <a:srgbClr val="F7F7F7"/>
                </a:solidFill>
                <a:latin typeface="Barlow"/>
                <a:ea typeface="Barlow"/>
                <a:cs typeface="Barlow"/>
                <a:sym typeface="Barlow"/>
              </a:rPr>
              <a:t>2024</a:t>
            </a:r>
            <a:r>
              <a:rPr lang="en-US" sz="2609" spc="10">
                <a:solidFill>
                  <a:srgbClr val="F7F7F7"/>
                </a:solidFill>
                <a:latin typeface="Barlow"/>
                <a:ea typeface="Barlow"/>
                <a:cs typeface="Barlow"/>
                <a:sym typeface="Barlow"/>
              </a:rPr>
              <a:t>.</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sp>
        <p:nvSpPr>
          <p:cNvPr name="Freeform 3" id="3"/>
          <p:cNvSpPr/>
          <p:nvPr/>
        </p:nvSpPr>
        <p:spPr>
          <a:xfrm flipH="false" flipV="false" rot="0">
            <a:off x="0" y="0"/>
            <a:ext cx="16620153" cy="10287000"/>
          </a:xfrm>
          <a:custGeom>
            <a:avLst/>
            <a:gdLst/>
            <a:ahLst/>
            <a:cxnLst/>
            <a:rect r="r" b="b" t="t" l="l"/>
            <a:pathLst>
              <a:path h="10287000" w="16620153">
                <a:moveTo>
                  <a:pt x="0" y="0"/>
                </a:moveTo>
                <a:lnTo>
                  <a:pt x="16620153" y="0"/>
                </a:lnTo>
                <a:lnTo>
                  <a:pt x="16620153" y="10287000"/>
                </a:lnTo>
                <a:lnTo>
                  <a:pt x="0" y="10287000"/>
                </a:lnTo>
                <a:lnTo>
                  <a:pt x="0" y="0"/>
                </a:lnTo>
                <a:close/>
              </a:path>
            </a:pathLst>
          </a:custGeom>
          <a:blipFill>
            <a:blip r:embed="rId3"/>
            <a:stretch>
              <a:fillRect l="0" t="-6122" r="0" b="-1587"/>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DAHQsO4XfHo</dc:identifier>
  <dcterms:modified xsi:type="dcterms:W3CDTF">2011-08-01T06:04:30Z</dcterms:modified>
  <cp:revision>1</cp:revision>
  <dc:title>Purple and White Modern Gradient Business Pitch Deck Presentation</dc:title>
</cp:coreProperties>
</file>